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التحصيل</c:v>
                </c:pt>
              </c:strCache>
            </c:strRef>
          </c:tx>
          <c:spPr>
            <a:solidFill>
              <a:srgbClr val="1B6FA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238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مرفوضة</c:v>
                  </c:pt>
                  <c:pt idx="1">
                    <c:v>موافقة جزئية</c:v>
                  </c:pt>
                  <c:pt idx="2">
                    <c:v>موافقة كاملة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0.499</c:v>
                </c:pt>
                <c:pt idx="2">
                  <c:v>0.9263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400" u="none">
                  <a:solidFill>
                    <a:srgbClr val="1238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1" i="0" u="none" strike="noStrike">
                <a:solidFill>
                  <a:srgbClr val="12384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b"/>
        <c:majorGridlines>
          <c:spPr>
            <a:ln w="12700" cap="flat">
              <a:solidFill>
                <a:srgbClr val="D6E2ED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1B6FA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238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تخمين عشوائي</c:v>
                  </c:pt>
                  <c:pt idx="1">
                    <c:v>انحدار لوجستي</c:v>
                  </c:pt>
                  <c:pt idx="2">
                    <c:v>أشجار إضافية</c:v>
                  </c:pt>
                  <c:pt idx="3">
                    <c:v>XGBoost</c:v>
                  </c:pt>
                  <c:pt idx="4">
                    <c:v>غابة عشوائية</c:v>
                  </c:pt>
                  <c:pt idx="5">
                    <c:v>LightGBM المعتمد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</c:v>
                </c:pt>
                <c:pt idx="1">
                  <c:v>0.734</c:v>
                </c:pt>
                <c:pt idx="2">
                  <c:v>0.8</c:v>
                </c:pt>
                <c:pt idx="3">
                  <c:v>0.8018</c:v>
                </c:pt>
                <c:pt idx="4">
                  <c:v>0.8019</c:v>
                </c:pt>
                <c:pt idx="5">
                  <c:v>0.8098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200" u="none">
                  <a:solidFill>
                    <a:srgbClr val="1238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384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4"/>
        </c:scaling>
        <c:delete val="0"/>
        <c:axPos val="b"/>
        <c:majorGridlines>
          <c:spPr>
            <a:ln w="12700" cap="flat">
              <a:solidFill>
                <a:srgbClr val="D6E2ED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65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افتتاحية: سديد يجيب عن سؤال واحد قبل إرسال المطالبة للضامن، وهو هل ستُحصَّل بالكامل. المنصّة مبنيّة بالكامل وجاهزة، والعرض اليوم عن العائد لا عن التمويل.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الرقم الثالث هو الأكثر تحفّظاً في العرض كله: يفترض أن خُمس الحالات المُشخَّصة فقط قابلة للإصلاح قبل الإرسال. تفصيله في شريحة نموذج العائد.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الرسالة أن الفرق بين النتيجتين ليس تدريجياً بل قفزة. تحويل مطالبة واحدة من الفئة الخاسرة إلى المقبولة يستعيد نحو 84 نقطة من قيمتها.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النقطة الجوهرية أن سديد لا يستبدل فريق الاستئناف، بل يقلّص ما يصل إليه أصلاً.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طبقة الإسناد النظامي هي ما يميّز سديد عن أداة تنبّؤ عادية، إذ تحوّل التنبّؤ إلى حجّة نظامية قابلة للاستعمال أمام الضامن.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لقطة حقيقية من الأداة وليست تصوّراً. الموظّف يقرأ الرقم والمبلغ ثم ينتقل مباشرة إلى تبويب الأسباب.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نقطة تحوّل المنصّة من أداة تحليل إلى أداة تشغيل: الموظّف لا يحتاج تفسير النموذج، بل قائمة عمل.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سَنَد يعمل بلا اتصال خارجي في وضعه الأساسي. الطبقة التوليدية اختيارية ومُطفأة افتراضياً.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العتبة 0.45 لا 0.5، خُفِّضت عمداً لأن تفويت حالة خاسرة أغلى من إنذار زائد يُراجَع في دقيقة.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للسؤال المتوقّع: كل نموذج يبدو ممتازاً في العرض. الجواب أننا خفّضنا الرقم عمداً أربع مرات.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نسبة الإصلاح هي الافتراض الوحيد غير المقيس. حتى لو لم يُنتج إصلاحاً إلا خُمس التشخيصات، يبقى العائد 4.2 نقطة.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تدافع عن خانة بعينها. الرسالة أن أضعف خانة في الجدول ما تزال تفوق كلفة التشغيل بمراتب.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الحدود بثقة. الإدارة تثق بالعرض الذي يذكر حدوده أكثر من العرض الذي يخفيها.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الطلب مقصود صغيراً: قرار تشغيلي واحد بلا ميزانية، ونتيجته تحسم التعميم من عدمه.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8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RCM/4705accb-a6ec-57be-a738-b36f9990c4f1/scratchpad/sad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566928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05740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سديد</a:t>
            </a:r>
            <a:endParaRPr lang="en-US" sz="6200" dirty="0"/>
          </a:p>
        </p:txBody>
      </p:sp>
      <p:sp>
        <p:nvSpPr>
          <p:cNvPr id="4" name="Text 1"/>
          <p:cNvSpPr/>
          <p:nvPr/>
        </p:nvSpPr>
        <p:spPr>
          <a:xfrm>
            <a:off x="731520" y="305409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7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منصّة التنبؤ بالموافقة التأمينية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731520" y="38587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تُحصَّل هذه المطالبة بالكامل؟ الجواب قبل الإرسال، لا بعد الرفض.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921240" y="5230368"/>
            <a:ext cx="150876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/tmp/claude-0/-home-user-RCM/4705accb-a6ec-57be-a738-b36f9990c4f1/scratchpad/clu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5376672"/>
            <a:ext cx="96012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5358384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تجمع مكة المكرمة الصحي  ·  إدارة أداء تنمية الإيرادات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31520" y="57790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للإدارة التنفيذية  ·  أغسطس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الخلاصة التنفيذية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أرقام تختصر القرار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الأرقام مقيسة على 41,042 مطالبة صدر فيها قرار نهائي، بتقسيم زمني يدرّب على الفترة الأقدم ويختبر على الأحدث.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0728" y="1783080"/>
            <a:ext cx="349300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339328" y="196596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48.7%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339328" y="2761488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قيمة المطالبات المُرسَلة لا تُحصَّل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339328" y="3346704"/>
            <a:ext cx="3035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الفجوة بين ما يُفوتر وما يُحصَّل فعلاً، قبل أي تدخّل.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34256" y="1783080"/>
            <a:ext cx="349300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62856" y="196596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62856" y="2761488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المطالبات الخاسرة يلتقطها سديد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62856" y="3346704"/>
            <a:ext cx="3035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قبل الإرسال، مع ترتيب أسبابها المرجّحة وإجراء تصحيحي لكل سبب.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57784" y="1783080"/>
            <a:ext cx="349300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86384" y="196596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‪+4.2%‬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786384" y="2761488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حدّ أدنى لارتفاع التحصيل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86384" y="3346704"/>
            <a:ext cx="30358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على قيمة ما يُرسَل، بأشدّ الافتراضات تحفّظاً، ويصل إلى 10.5 نقطة.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57784" y="4315968"/>
            <a:ext cx="11045952" cy="1737360"/>
          </a:xfrm>
          <a:prstGeom prst="roundRect">
            <a:avLst>
              <a:gd name="adj" fmla="val 315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517136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يُعرض هذا الآن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8463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المنصّة مبنيّة ومُختبَرة وتعمل بالكامل، فلا ميزانية تطوير مطلوبة ولا خادم ولا كلفة تشغيل لكل مطالبة.</a:t>
            </a:r>
            <a:endParaRPr lang="en-US" sz="15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المطلوب قرار تشغيلي واحد، وهو إدخال فحص سديد خطوةً إلزامية قبل إرسال المطالبة للضامن.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المصدر: مخرجات التدريب في model/artifacts/metrics.json — بيانات 2026-01-01 إلى 2026-07-18.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نتيجة الموافقة تحسم التحصيل، لا التفاوض بعدها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المبلغ المحصَّل فعلياً من إجمالي الفاتورة، محسوبة من السجل التاريخي لكل نتيجة.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57784" y="1783080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783080"/>
            <a:ext cx="3877056" cy="1481328"/>
          </a:xfrm>
          <a:prstGeom prst="roundRect">
            <a:avLst>
              <a:gd name="adj" fmla="val 3704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55280" y="1938528"/>
            <a:ext cx="3419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48.7%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955280" y="2615184"/>
            <a:ext cx="34198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كل ريال يُفوتر لا يصل إلى الحساب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26680" y="3456432"/>
            <a:ext cx="3877056" cy="676656"/>
          </a:xfrm>
          <a:prstGeom prst="roundRect">
            <a:avLst>
              <a:gd name="adj" fmla="val 810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13848" y="358444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56.7%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909560" y="3584448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المطالبات لا تصدر موافقتها كاملة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26680" y="4242816"/>
            <a:ext cx="3877056" cy="676656"/>
          </a:xfrm>
          <a:prstGeom prst="roundRect">
            <a:avLst>
              <a:gd name="adj" fmla="val 810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13848" y="4370832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909560" y="437083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فقط تُحصَّل من قيمة المطالبة غير المكتملة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5029200"/>
            <a:ext cx="3877056" cy="676656"/>
          </a:xfrm>
          <a:prstGeom prst="roundRect">
            <a:avLst>
              <a:gd name="adj" fmla="val 8108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13848" y="5157216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92.6%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909560" y="5157216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تُحصَّل من قيمة المطالبة المقبولة كاملة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«الموافقة الجزئية» خسارة إيراد فعلية، إذ تُحصّل نصف الفاتورة تقريباً، ولذلك تُحسب مع الفئة الخاسرة في النموذج.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يقع القرار اليوم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نكتشف الخلل بعد أن يصير استئنافاً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 الحالي يضع كل جهد التصحيح بعد صدور الرفض، حين تكون كلفته أعلى واحتمال نجاحه أقل.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378440" y="230428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اليوم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93024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321040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321040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تُرسَل المطالبة كما هي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8010144" y="2441448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44768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72784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72784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يردّ الضامن بالرفض أو الخصم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flipH="1">
            <a:off x="5961888" y="2441448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96512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24528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24528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يُفتَح ملف استئناف ويُجمَّع الناقص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flipH="1">
            <a:off x="3913632" y="2441448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48256" y="1847088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C4362F"/>
          </a:solidFill>
          <a:ln w="12700">
            <a:solidFill>
              <a:srgbClr val="C436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197510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76272" y="2286000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تأخّر في التحصيل، وجزء يُشطب نهائياً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378440" y="40782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سديد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193024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321040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21040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سديد يقيس احتمال عدم الاكتمال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flipH="1">
            <a:off x="8010144" y="4215384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44768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72784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72784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يرتّب الأسباب المرجّحة للردّ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 flipH="1">
            <a:off x="5961888" y="4215384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96512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4528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24528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يُستكمَل الناقص قبل الإرسال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3913632" y="4215384"/>
            <a:ext cx="164592" cy="182880"/>
          </a:xfrm>
          <a:prstGeom prst="rightArrow">
            <a:avLst/>
          </a:prstGeom>
          <a:solidFill>
            <a:srgbClr val="D6E2ED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48256" y="3621024"/>
            <a:ext cx="1847088" cy="1371600"/>
          </a:xfrm>
          <a:prstGeom prst="roundRect">
            <a:avLst>
              <a:gd name="adj" fmla="val 4000"/>
            </a:avLst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176272" y="3749040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76272" y="4059936"/>
            <a:ext cx="1591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تُرسَل مكتملة، بلا دورة استئناف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57784" y="5394960"/>
            <a:ext cx="11045952" cy="731520"/>
          </a:xfrm>
          <a:prstGeom prst="roundRect">
            <a:avLst>
              <a:gd name="adj" fmla="val 75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5541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التصحيح المسبق أرخص من الاستئناف، فهو لا يستهلك دورة مراجعة لدى الضامن ولا يؤخّر التدفّق النقدي.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هو سديد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طبقات فوق المطالبة الواحدة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تعمل جميعها داخل المتصفّح، بلا خادم ولا واجهة برمجية، ولا تغادر بيانات المطالبة جهاز المستخدم.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0728" y="1783080"/>
            <a:ext cx="349300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17936" y="1993392"/>
            <a:ext cx="457200" cy="457200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1793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339328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التنبّؤ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339328" y="2615184"/>
            <a:ext cx="3035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احتمال ألّا تصدر الموافقة كاملة، مقارَناً بالمعدّل العام، مع تقدير الإيراد المتوقّع والمبلغ المعرّض للخطر بالريال.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39328" y="396849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LightGBM · 29 خاصية · AUC 0.810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34256" y="1783080"/>
            <a:ext cx="349300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41464" y="1993392"/>
            <a:ext cx="457200" cy="457200"/>
          </a:xfrm>
          <a:prstGeom prst="ellipse">
            <a:avLst/>
          </a:prstGeom>
          <a:solidFill>
            <a:srgbClr val="96590F"/>
          </a:solidFill>
          <a:ln w="12700">
            <a:solidFill>
              <a:srgbClr val="9659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4146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62856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التشخيص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562856" y="2615184"/>
            <a:ext cx="3035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أرجح أسباب عدم الموافقة مرتّبة، ومع كل سبب إجراء تصحيحي محدّد يُنفَّذ قبل الإرسال، لا تنبيه مجرّد.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62856" y="396849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9659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سبباً معيارياً · دقّة التشخيص 68 بالمئة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57784" y="1783080"/>
            <a:ext cx="3493008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64992" y="1993392"/>
            <a:ext cx="457200" cy="457200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6499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86384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الإسناد النظامي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86384" y="2615184"/>
            <a:ext cx="30358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«سَنَد» يربط كل سبب بنصّ لائحة مجلس الضمان الصحي المنطبق عليه، بصورة صفحته ورقمها.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86384" y="3968496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مستنداً · 268 صفحة مفهرسة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" y="4828032"/>
            <a:ext cx="11045952" cy="1078992"/>
          </a:xfrm>
          <a:prstGeom prst="roundRect">
            <a:avLst>
              <a:gd name="adj" fmla="val 508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74920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تنبّؤ مشروح بقيم SHAP محسوبة بدقّة تامة داخل المتصفّح، فيرى المستخدم أي عامل رفع الخطر وبكم، ولا يُطلب منه الوثوق بصندوق مغلق.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المنصّة عملياً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مخرَج واحد يفهمه موظّف التحصيل فوراً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لقطة فعلية من صفحة التنبؤ، بعد إدخال بيانات مطالبة واحدة قبل إرسالها.</a:t>
            </a:r>
            <a:endParaRPr lang="en-US" sz="1400" dirty="0"/>
          </a:p>
        </p:txBody>
      </p:sp>
      <p:pic>
        <p:nvPicPr>
          <p:cNvPr id="5" name="Image 0" descr="/home/user/RCM/docs/img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691640"/>
            <a:ext cx="7223760" cy="3950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01000" y="169164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02168" y="18379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احتمال صريح لا درجة غامضة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02168" y="216712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89.6 بالمئة احتمال ألّا تصدر الموافقة كاملة، ومقارنته بالمعدّل العام للمطالبات.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001000" y="306324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02168" y="32095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 بالريال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02168" y="353872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الإيراد المتوقّع تحصيله والمبلغ المعرّض للخطر، بلغة الإدارة المالية لا بلغة النموذج.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01000" y="4434840"/>
            <a:ext cx="3602736" cy="1207008"/>
          </a:xfrm>
          <a:prstGeom prst="roundRect">
            <a:avLst>
              <a:gd name="adj" fmla="val 454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02168" y="45811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توجيه للخطوة التالية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02168" y="491032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إحالة مباشرة إلى الأسباب المرجّحة وإجرائها التصحيحي قبل الإرسال.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المطالبة في المثال قيمتها 1,450 ريالاً، والمعرّض للخطر منها 1,196 ريالاً.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التنبّؤ إلى إجراء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المهمّ ليس أنّ الطلب سيُردّ، بل ما الذي ينقصه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سبب متوقَّع يتحوّل إلى بند عمل يحمل سؤال تحقّق، وإجراءً تصحيحياً، ونصّاً نظامياً يسنده.</a:t>
            </a:r>
            <a:endParaRPr lang="en-US" sz="1400" dirty="0"/>
          </a:p>
        </p:txBody>
      </p:sp>
      <p:pic>
        <p:nvPicPr>
          <p:cNvPr id="5" name="Image 0" descr="/home/user/RCM/docs/img/case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" y="1783080"/>
            <a:ext cx="7589520" cy="2697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366760" y="1783080"/>
            <a:ext cx="3236976" cy="2697480"/>
          </a:xfrm>
          <a:prstGeom prst="roundRect">
            <a:avLst>
              <a:gd name="adj" fmla="val 2034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0" y="1975104"/>
            <a:ext cx="2779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8595360" y="2651760"/>
            <a:ext cx="2779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الحالات يكون السبب الصحيح ضمن الأسباب الثلاثة الأولى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95360" y="3456432"/>
            <a:ext cx="27797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مقابل 17.7 بالمئة لو خُمِّن السبب اعتباطاً، أي نحو أربعة أضعاف التخمين.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110728" y="4709160"/>
            <a:ext cx="3493008" cy="1188720"/>
          </a:xfrm>
          <a:prstGeom prst="roundRect">
            <a:avLst>
              <a:gd name="adj" fmla="val 461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484632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نقص في المستندات المطلوبة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293608" y="5157216"/>
            <a:ext cx="3127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أرفق تقرير الطوارئ والتاريخ المرضي ونتائج التحاليل قبل الإرسال.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34256" y="4709160"/>
            <a:ext cx="3493008" cy="1188720"/>
          </a:xfrm>
          <a:prstGeom prst="roundRect">
            <a:avLst>
              <a:gd name="adj" fmla="val 461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17136" y="484632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تنطبق معايير الطوارئ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517136" y="5157216"/>
            <a:ext cx="3127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وثّق العلامات الحيوية وتصنيف CTAS لإثبات صفة الطوارئ.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57784" y="4709160"/>
            <a:ext cx="3493008" cy="1188720"/>
          </a:xfrm>
          <a:prstGeom prst="roundRect">
            <a:avLst>
              <a:gd name="adj" fmla="val 4615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0664" y="484632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C436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الحالة ضمن استثناءات الوثيقة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0664" y="5157216"/>
            <a:ext cx="3127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راجع بنود الاستثناء في العقد، وأبلغ المريض بالتحمّل مسبقاً.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نماذج من الأسباب الستة عشر المعيارية، ومع كل سبب إجراؤه التصحيحي كما يعرضه سديد.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سَنَد · الطبقة النظامية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الحجّة أمام الضامن تحتاج نصّاً، لا رأياً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مساعد مرجعي يجيب من 29 مستنداً من لوائح مجلس الضمان الصحي، بصورة الصفحة ورقمها مع كل إجابة.</a:t>
            </a:r>
            <a:endParaRPr lang="en-US" sz="1400" dirty="0"/>
          </a:p>
        </p:txBody>
      </p:sp>
      <p:pic>
        <p:nvPicPr>
          <p:cNvPr id="5" name="Image 0" descr="/home/user/RCM/docs/img/chat-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37360"/>
            <a:ext cx="5157216" cy="40965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51576" y="1801368"/>
            <a:ext cx="384048" cy="384048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51576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57784" y="18288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قراءة تشغيلية مبسّطة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57784" y="221284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يعيد صياغة الحكم بلغة العمل («على مقدم الخدمة…») ويستخرج المدد والنسب والمبالغ في شارات ظاهرة.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751576" y="3172968"/>
            <a:ext cx="384048" cy="384048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51576" y="3172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57784" y="32004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النصّ الرسمي منقولاً حرفياً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57784" y="358444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اسم المستند ورقم الصفحة وصورتها الكاملة، وكل جملة تحمل رقم مرجعها والضغط عليه ينقلك إليه.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751576" y="4544568"/>
            <a:ext cx="384048" cy="384048"/>
          </a:xfrm>
          <a:prstGeom prst="ellipse">
            <a:avLst/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51576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57784" y="45720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 توليد لغوي حرّ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57784" y="495604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الصياغة تُركَّب من مكوّنات مستخرَجة من النصّ نفسه، فلا مجال لأن يُنسب إلى اللائحة ما ليس فيها.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57784" y="5852160"/>
            <a:ext cx="5577840" cy="0"/>
          </a:xfrm>
          <a:prstGeom prst="roundRect">
            <a:avLst>
              <a:gd name="adj" fmla="val Infinity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7784" y="58521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النصّ الرسمي هو المرجع عند أي تعارض، والمنصّة تعرضه ولا تلخّصه فحسب.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الأداء المقيس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قُورنت ست خوارزميات، واعتُمد أدقّها تمييزاً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هو المقياس المعتمد للاختيار، فهو لا يتأثر بعتبة القرار ولا بتوزيع الفئات.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57784" y="1783080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783080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13848" y="200253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909560" y="19659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المطالبات الخاسرة تُلتقط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2807208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13848" y="302666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71.1%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909560" y="2990088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الإنذارات صحيحة فعلاً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26680" y="3831336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13848" y="405079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72.4%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909560" y="4014216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دقّة إجمالية · رفع 21.8 نقطة فوق الأساس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4855464"/>
            <a:ext cx="3877056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13848" y="507492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0.810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909560" y="5038344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· قوّة التمييز بين الفئتين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مقيسة على 8,209 مطالبة من آخر الفترة لم يرها النموذج أثناء التدريب · عتبة القرار 0.45 مختارة على شريحة تحقّق منفصلة.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مصداقية الرقم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يمكن الوثوق بأداء لم يُقس على بيانات مستقبلية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أربعة قرارات منهجية كلّفت المنصّة نقاط دقّة ظاهرية، مقابل رقم يصمد عند التشغيل.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81928" y="178308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63656" y="198424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63656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01384" y="20208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تقسيم زمني لا عشوائي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01384" y="245973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التدريب على الفترة الأقدم والاختبار على الأحدث، وهو تقييم أقسى من التقسيم العشوائي الذي يبالغ عادةً في تقدير الأداء.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" y="178308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239512" y="198424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9512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202082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حذف كل عمود يُعرف بعد قرار الضامن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45973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استُبعد المبلغ المغطى وسبب الرفض ورقم الموافقة وتاريخ الخروج، فلا يتعلّم النموذج من إجابة لن تكون متاحة وقت التنبّؤ.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81928" y="370332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963656" y="390448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63656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01384" y="39410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حذف حقل قويّ لأنه غير موثوق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01384" y="437997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حُذف «حالة الفاتورة» رغم مساهمته بنحو 12.7 بالمئة من أهمية النموذج، لأنه قد يُحدَّث بعد قرار الضامن. كلّف ذلك نحو 3 نقاط دقّة.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7784" y="3703320"/>
            <a:ext cx="53218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239512" y="3904488"/>
            <a:ext cx="420624" cy="420624"/>
          </a:xfrm>
          <a:prstGeom prst="ellipse">
            <a:avLst/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9512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7240" y="39410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تحقّق من التنفيذ في المتصفّح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77240" y="4379976"/>
            <a:ext cx="488289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قُورنت مخرجات محرّك المتصفّح بمكتبات بايثون المرجعية، وأقصى فارق في قيم SHAP أقلّ من جزء واحد من مليون، أي تطابق عملي تام.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57784" y="5632704"/>
            <a:ext cx="11045952" cy="603504"/>
          </a:xfrm>
          <a:prstGeom prst="roundRect">
            <a:avLst>
              <a:gd name="adj" fmla="val 9091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5751576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الرقم المعروض هو ما ينبغي توقّعه عند التشغيل، لا سقفاً مثالياً في المختبر.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نموذج العائد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مسار القيمة من 1,000 مطالبة مُرسَلة إلى ريال مُستعاد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نسبة في المسار مقيسة على بيانات الاختبار، عدا الأخيرة فهي افتراض تشغيلي متحفّظ.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" y="1755648"/>
            <a:ext cx="10881360" cy="640080"/>
          </a:xfrm>
          <a:prstGeom prst="roundRect">
            <a:avLst>
              <a:gd name="adj" fmla="val 7143"/>
            </a:avLst>
          </a:prstGeom>
          <a:solidFill>
            <a:srgbClr val="DCE6EF"/>
          </a:solidFill>
          <a:ln w="12700">
            <a:solidFill>
              <a:srgbClr val="DCE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186537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596896" y="1865376"/>
            <a:ext cx="8778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مطالبة تُرسَل للضامن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368296" y="2532888"/>
            <a:ext cx="9235440" cy="640080"/>
          </a:xfrm>
          <a:prstGeom prst="roundRect">
            <a:avLst>
              <a:gd name="adj" fmla="val 7143"/>
            </a:avLst>
          </a:prstGeom>
          <a:solidFill>
            <a:srgbClr val="F3D9D7"/>
          </a:solidFill>
          <a:ln w="12700">
            <a:solidFill>
              <a:srgbClr val="F3D9D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9464" y="264261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494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242816" y="2642616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لن تصدر موافقتها كاملة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" y="2670048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49.4% من المُرسَل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14216" y="3310128"/>
            <a:ext cx="7589520" cy="640080"/>
          </a:xfrm>
          <a:prstGeom prst="roundRect">
            <a:avLst>
              <a:gd name="adj" fmla="val 7143"/>
            </a:avLst>
          </a:prstGeom>
          <a:solidFill>
            <a:srgbClr val="BBD5E6"/>
          </a:solidFill>
          <a:ln w="12700">
            <a:solidFill>
              <a:srgbClr val="BBD5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5384" y="341985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367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888736" y="3419856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يلتقطها سديد قبل الإرسال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" y="3447288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74.4% استرجاع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0136" y="4087368"/>
            <a:ext cx="5943600" cy="640080"/>
          </a:xfrm>
          <a:prstGeom prst="roundRect">
            <a:avLst>
              <a:gd name="adj" fmla="val 7143"/>
            </a:avLst>
          </a:prstGeom>
          <a:solidFill>
            <a:srgbClr val="1B6FA8"/>
          </a:solidFill>
          <a:ln w="12700">
            <a:solidFill>
              <a:srgbClr val="1B6F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61304" y="41970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534656" y="419709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يُشخَّص سببها الصحيح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" y="4224528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68.0% دقّة التشخيص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06056" y="4864608"/>
            <a:ext cx="4297680" cy="640080"/>
          </a:xfrm>
          <a:prstGeom prst="roundRect">
            <a:avLst>
              <a:gd name="adj" fmla="val 7143"/>
            </a:avLst>
          </a:prstGeom>
          <a:solidFill>
            <a:srgbClr val="0B7A5E"/>
          </a:solidFill>
          <a:ln w="12700">
            <a:solidFill>
              <a:srgbClr val="0B7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07224" y="497433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– 125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180576" y="497433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تُصحَّح وتُرسَل مكتملة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7784" y="5001768"/>
            <a:ext cx="6528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0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– 50% نسبة الإصلاح (افتراض)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57784" y="5742432"/>
            <a:ext cx="11045952" cy="603504"/>
          </a:xfrm>
          <a:prstGeom prst="roundRect">
            <a:avLst>
              <a:gd name="adj" fmla="val 9091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86130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مطالبة تتحوّل من «غير مكتملة» إلى «مقبولة كاملة» تستعيد 83.8 بالمئة من قيمتها، فيرتفع التحصيل بمقدار 4.2 إلى 10.5 نقطة على قيمة كل ما يُرسَل.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العائد السنوي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يعنيه ذلك بالريال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نحو 181,000 مطالبة سنوياً تمرّ عبر الفحص · القيم بملايين الريالات، إيراداً مستعاداً سنوياً · الأعمدة تمثّل نسبة الإصلاح المفترضة.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586216" y="1737360"/>
            <a:ext cx="3017520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86216" y="17373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قيمة الفاتورة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81144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81144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578608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8608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6072" y="1737360"/>
            <a:ext cx="2002536" cy="512064"/>
          </a:xfrm>
          <a:prstGeom prst="rect">
            <a:avLst/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173736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86216" y="2249424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86216" y="224942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ريال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0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1144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1144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578608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78608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15.2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76072" y="2249424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" y="224942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18.9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86216" y="2761488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86216" y="276148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ريال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83680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15.2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81144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81144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2578608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76072" y="2761488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6072" y="276148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37.9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586216" y="3273552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86216" y="327355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 ريال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583680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22.7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4581144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81144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34.1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2578608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78608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576072" y="3273552"/>
            <a:ext cx="2002536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6072" y="327355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56.8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586216" y="3785616"/>
            <a:ext cx="3017520" cy="512064"/>
          </a:xfrm>
          <a:prstGeom prst="rect">
            <a:avLst/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86216" y="378561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ريال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583680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37.9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4581144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81144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56.8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2578608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78608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75.8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576072" y="3785616"/>
            <a:ext cx="2002536" cy="512064"/>
          </a:xfrm>
          <a:prstGeom prst="rect">
            <a:avLst/>
          </a:prstGeom>
          <a:solidFill>
            <a:srgbClr val="FAFCFE"/>
          </a:solidFill>
          <a:ln w="12700">
            <a:solidFill>
              <a:srgbClr val="D6E2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" y="378561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94.7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199632" y="4626864"/>
            <a:ext cx="5404104" cy="1371600"/>
          </a:xfrm>
          <a:prstGeom prst="roundRect">
            <a:avLst>
              <a:gd name="adj" fmla="val 4000"/>
            </a:avLst>
          </a:prstGeom>
          <a:solidFill>
            <a:srgbClr val="12384F"/>
          </a:solidFill>
          <a:ln w="12700">
            <a:solidFill>
              <a:srgbClr val="12384F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6428232" y="4773168"/>
            <a:ext cx="4946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1,622 ريال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6428232" y="5285232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عائد كل ساعة مراجعة قبل الإرسال، بأدنى قيمة فاتورة وأدنى نسبة إصلاح. يرتفع إلى 4,865 ريالاً عند متوسط فاتورة 3,000 ريال.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576072" y="4626864"/>
            <a:ext cx="5404104" cy="1371600"/>
          </a:xfrm>
          <a:prstGeom prst="roundRect">
            <a:avLst>
              <a:gd name="adj" fmla="val 4000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04672" y="4809744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العمود الأخضر هو سيناريو التخطيط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804672" y="5193792"/>
            <a:ext cx="49469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يفترض أن خُمس الحالات المُشخَّصة فقط قابلة للإصلاح قبل الإرسال. أي رقم فوقه مكسب إضافي، لا شرط للجدوى.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قيمة الفاتورة غير متاح في بيانات النموذج، فعُرض العائد كجدول حساسية تُسقِط عليه الإدارة رقمها الفعلي مباشرة.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التكلفة والحدود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يكلّفه هذا، وما الذي لا يفعله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صريح للجانبين، لأن قرار التبنّي يحتاج الحدّين معاً.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199632" y="1737360"/>
            <a:ext cx="5404104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55664" y="190195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B7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التكلفة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55664" y="241401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ميزانية تطوير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55664" y="270662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المنصّة مبنيّة ومُختبَرة ومُوثَّقة بالكامل.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55664" y="32826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كلفة بنية تحتية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55664" y="357530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تعمل داخل المتصفّح، بلا خادم ولا قاعدة بيانات ولا كلفة لكل مطالبة.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55664" y="41513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مخاطرة خصوصية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55664" y="444398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المطالبة لا تغادر جهاز المستخدم، ولا يستعمل النموذج أي معرّف شخصي.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55664" y="50200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الكلفة الوحيدة هي وقت المراجعة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5664" y="531266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يُعلَّم 516 من كل 1,000 مطالبة للمراجعة المسبقة، والعتبة قابلة للرفع لتضييق هذا العدد.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76072" y="1737360"/>
            <a:ext cx="5404104" cy="4160520"/>
          </a:xfrm>
          <a:prstGeom prst="roundRect">
            <a:avLst>
              <a:gd name="adj" fmla="val 1319"/>
            </a:avLst>
          </a:prstGeom>
          <a:solidFill>
            <a:srgbClr val="EFF4F9"/>
          </a:solidFill>
          <a:ln w="12700">
            <a:solidFill>
              <a:srgbClr val="D6E2ED"/>
            </a:solidFill>
            <a:prstDash val="solid"/>
          </a:ln>
          <a:effectLst>
            <a:outerShdw sx="100000" sy="100000" kx="0" ky="0" algn="bl" rotWithShape="0" blurRad="127000" dist="25400" dir="5400000">
              <a:srgbClr val="12384F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" y="1901952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9659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الحدود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32104" y="241401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مساعد قرار لا بديل عن المراجعة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32104" y="270662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يُتّخذ قرار برفض خدمة لمريض بناءً عليه إطلاقاً.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32104" y="32826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يميل إلى الإنذار عمداً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2104" y="357530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نحو 29 بالمئة ممّا يُعلَّم يُقبل فعلاً بالكامل، وهو ثمن مقصود مقابل التقاط 74 بالمئة من الخاسرة.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32104" y="415137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يميّز الرفض من الخصم الجزئي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32104" y="444398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ينذر بأن الموافقة لن تكتمل، دون تحديد أيّهما.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32104" y="502005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يتدهور بتغيّر سياسات الضامنين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2104" y="5312664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يُعاد التدريب كل ربع سنة، وهو إجراء مؤتمت بأمر واحد.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i="1" dirty="0">
                <a:solidFill>
                  <a:srgbClr val="4E65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المخاطرة الأساسية ليست في النموذج بل في التبنّي، فأداة لا تُدخَل في المسار الإلزامي لا تُنتج عائداً.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38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خارطة التشغيل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مراحل خلال ربع واحد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10728" y="1572768"/>
            <a:ext cx="3493008" cy="2487168"/>
          </a:xfrm>
          <a:prstGeom prst="roundRect">
            <a:avLst>
              <a:gd name="adj" fmla="val 2206"/>
            </a:avLst>
          </a:prstGeom>
          <a:solidFill>
            <a:srgbClr val="1B4A66"/>
          </a:solidFill>
          <a:ln w="12700">
            <a:solidFill>
              <a:srgbClr val="2A62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17936" y="1783080"/>
            <a:ext cx="457200" cy="457200"/>
          </a:xfrm>
          <a:prstGeom prst="ellipse">
            <a:avLst/>
          </a:prstGeom>
          <a:solidFill>
            <a:srgbClr val="9FC8E0"/>
          </a:solidFill>
          <a:ln w="12700">
            <a:solidFill>
              <a:srgbClr val="9FC8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1793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339328" y="1828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تشغيل تجريبي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339328" y="2395728"/>
            <a:ext cx="3035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مستشفى واحد وأعلى ثلاثة عقود قيمةً، وتُقاس فيه نسبة الإصلاح الفعلية ميدانياً.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339328" y="358444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7FE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أسابيع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34256" y="1572768"/>
            <a:ext cx="3493008" cy="2487168"/>
          </a:xfrm>
          <a:prstGeom prst="roundRect">
            <a:avLst>
              <a:gd name="adj" fmla="val 2206"/>
            </a:avLst>
          </a:prstGeom>
          <a:solidFill>
            <a:srgbClr val="1B4A66"/>
          </a:solidFill>
          <a:ln w="12700">
            <a:solidFill>
              <a:srgbClr val="2A62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41464" y="1783080"/>
            <a:ext cx="457200" cy="457200"/>
          </a:xfrm>
          <a:prstGeom prst="ellipse">
            <a:avLst/>
          </a:prstGeom>
          <a:solidFill>
            <a:srgbClr val="9FC8E0"/>
          </a:solidFill>
          <a:ln w="12700">
            <a:solidFill>
              <a:srgbClr val="9FC8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4146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62856" y="1828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إلزام الفحص المسبق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62856" y="2395728"/>
            <a:ext cx="3035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إدخال سديد خطوةً إلزامية قبل الإرسال في المسار المعتمد، وربط مخرجاته بلوحة Power BI القائمة.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2856" y="358444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7FE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أسابيع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57784" y="1572768"/>
            <a:ext cx="3493008" cy="2487168"/>
          </a:xfrm>
          <a:prstGeom prst="roundRect">
            <a:avLst>
              <a:gd name="adj" fmla="val 2206"/>
            </a:avLst>
          </a:prstGeom>
          <a:solidFill>
            <a:srgbClr val="1B4A66"/>
          </a:solidFill>
          <a:ln w="12700">
            <a:solidFill>
              <a:srgbClr val="2A62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64992" y="1783080"/>
            <a:ext cx="457200" cy="457200"/>
          </a:xfrm>
          <a:prstGeom prst="ellipse">
            <a:avLst/>
          </a:prstGeom>
          <a:solidFill>
            <a:srgbClr val="9FC8E0"/>
          </a:solidFill>
          <a:ln w="12700">
            <a:solidFill>
              <a:srgbClr val="9FC8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86384" y="1828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التعميم والمتابعة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86384" y="2395728"/>
            <a:ext cx="3035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F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التوسّع على مستوى التجمع، وإعادة تدريب ربع سنوية، ومتابعة أثر التحصيل شهرياً.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7FE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مستمرّ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57784" y="4352544"/>
            <a:ext cx="1104595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55371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B6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الطلب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8680" y="4901184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600" b="1" dirty="0">
                <a:solidFill>
                  <a:srgbClr val="1238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اعتماد التشغيل التجريبي في مستشفى واحد لمدة أربعة أسابيع، وتكليف إدارة أداء تنمية الإيرادات بقياس نسبة الإصلاح الفعلية ورفع نتيجتها.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608990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BA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سديد  ·  تجمع مكة المكرمة الصحي  ·  إدارة أداء تنمية الإيرادات  ·  إعداد: هاني السلمي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Makkah Health Cluster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سديد — عرض للإدارة التنفيذية</dc:title>
  <dc:subject>PptxGenJS Presentation</dc:subject>
  <dc:creator>Hani Alsulami</dc:creator>
  <cp:lastModifiedBy>Hani Alsulami</cp:lastModifiedBy>
  <cp:revision>1</cp:revision>
  <dcterms:created xsi:type="dcterms:W3CDTF">2026-08-19T00:48:44Z</dcterms:created>
  <dcterms:modified xsi:type="dcterms:W3CDTF">2026-08-19T00:48:44Z</dcterms:modified>
</cp:coreProperties>
</file>