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الاعتماد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مرفوضة</c:v>
                  </c:pt>
                  <c:pt idx="1">
                    <c:v>موافقة جزئية</c:v>
                  </c:pt>
                  <c:pt idx="2">
                    <c:v>موافقة كاملة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0.499</c:v>
                </c:pt>
                <c:pt idx="2">
                  <c:v>0.9263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4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تخمين عشوائي</c:v>
                  </c:pt>
                  <c:pt idx="1">
                    <c:v>انحدار لوجستي</c:v>
                  </c:pt>
                  <c:pt idx="2">
                    <c:v>أشجار إضافية</c:v>
                  </c:pt>
                  <c:pt idx="3">
                    <c:v>XGBoost</c:v>
                  </c:pt>
                  <c:pt idx="4">
                    <c:v>غابة عشوائية</c:v>
                  </c:pt>
                  <c:pt idx="5">
                    <c:v>LightGBM المعتمد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0.734</c:v>
                </c:pt>
                <c:pt idx="2">
                  <c:v>0.8</c:v>
                </c:pt>
                <c:pt idx="3">
                  <c:v>0.8018</c:v>
                </c:pt>
                <c:pt idx="4">
                  <c:v>0.8019</c:v>
                </c:pt>
                <c:pt idx="5">
                  <c:v>0.8098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سديد يجيب عن سؤال واحد قبل رفع الطلب للضامن، وهو هل سيُعتمد بالكامل. المنصّة مبنيّة بالكامل وجاهزة، والعرض اليوم عن العائد لا عن التمويل.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الرقم الثالث هو الأكثر تحفّظاً في العرض كله: يفترض أن خُمس الحالات المُشخَّصة فقط قابلة للإصلاح قبل الرفع. تفصيله في شريحة نموذج العائد.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الرسالة أن الفرق بين النتيجتين ليس تدريجياً بل قفزة. تحويل طلب واحد من الفئة الخاسرة إلى المقبولة يستعيد نحو 84 نقطة من قيمته.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 الجوهرية أن سديد لا يستبدل فريق معالجة المرفوضات، بل يقلّص ما يصل إليه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طبقة الإسناد النظامي هي ما يميّز سديد عن أداة تنبّؤ عادية، إذ تحوّل التنبّؤ إلى حجّة نظامية قابلة للاستعمال أمام الضامن.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لقطة حقيقية من الأداة وليست تصوّراً. الموظّف يقرأ الرقم والمبلغ ثم ينتقل مباشرة إلى تبويب الأسباب.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تحوّل المنصّة من أداة تحليل إلى أداة تشغيل: الموظّف لا يحتاج تفسير النموذج، بل قائمة 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سَنَد يعمل بلا اتصال خارجي في وضعه الأساسي. الطبقة التوليدية اختيارية ومُطفأة افتراضياً.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العتبة 0.45 لا 0.5، خُفِّضت عمداً لأن تفويت حالة خاسرة أغلى من إنذار زائد يُراجَع في دقيقة.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للسؤال المتوقّع: كل نموذج يبدو ممتازاً في العرض. الجواب أننا خفّضنا الرقم عمداً أربع مرات.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نسبة الإصلاح هي الافتراض الوحيد غير المقيس. حتى لو لم يُنتج إصلاحاً إلا خُمس التشخيصات، يبقى العائد 4.2 نقطة.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تدافع عن خانة بعينها. الرسالة أن أضعف خانة في الجدول ما تزال تفوق كلفة التشغيل بمراتب.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الحدود بثقة. الإدارة تثق بالعرض الذي يذكر حدوده أكثر من العرض الذي يخفيها.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الطلب مقصود صغيراً: قرار تشغيلي واحد بلا ميزانية، ونتيجته تحسم التعميم من عدمه.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sad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566928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0574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731520" y="30540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التنبؤ بالموافقة التأمينية المسبقة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31520" y="3858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يُعتمد هذا الطلب بالكامل؟ الجواب قبل الرفع، لا بعد الرفض.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921240" y="5230368"/>
            <a:ext cx="15087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./clu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5376672"/>
            <a:ext cx="96012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5358384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تجمع مكة المكرمة الصحي  ·  إدارة أداء تنمية الإيرادات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31520" y="5779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للإدارة التنفيذية  ·  أغسطس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التنفيذية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أرقام تختصر القرار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الأرقام مقيسة على 41,042 طلباً صدر فيها قرار نهائي، بتقسيم زمني يدرّب على الفترة الأقدم ويختبر على الأحدث.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39328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339328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قيمة ما يُطلب من الضامن لا يُعتمد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39328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 بين المبلغ المطلوب والمبلغ المعتمد، قبل أي تدخّل.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62856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يلتقطها سديد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2856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الرفع، مع ترتيب أسبابها المرجّحة وإجراء تصحيحي لكل سبب.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784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‪+4.2%‬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86384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 أدنى لارتفاع التغطية المعتمدة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قيمة ما يُرفَع، بأشدّ الافتراضات تحفّظاً، ويصل إلى 10.5 نقطة.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7784" y="4315968"/>
            <a:ext cx="11045952" cy="1737360"/>
          </a:xfrm>
          <a:prstGeom prst="roundRect">
            <a:avLst>
              <a:gd name="adj" fmla="val 315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يُعرض هذا الآن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وتعمل بالكامل، فلا ميزانية تطوير مطلوبة ولا خادم ولا كلفة تشغيل لكل طلب.</a:t>
            </a:r>
            <a:endParaRPr lang="en-US" sz="15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المطلوب قرار تشغيلي واحد، وهو إدخال فحص سديد خطوةً إلزامية قبل رفع الطلب للضامن.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مخرجات التدريب في model/artifacts/metrics.json — بيانات 2026-01-01 إلى 2026-07-18.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 الضامن يحسم الإيراد، لا التفاوض بعده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المبلغ المعتمد من إجمالي المبلغ المطلوب، محسوبة من السجل التاريخي لكل نتيجة قرار.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1481328"/>
          </a:xfrm>
          <a:prstGeom prst="roundRect">
            <a:avLst>
              <a:gd name="adj" fmla="val 370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55280" y="1938528"/>
            <a:ext cx="3419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15184"/>
            <a:ext cx="3419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كل ريال يُطلب لا يصدر اعتماده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26680" y="3456432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58444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909560" y="3584448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لا تصدر موافقتها كاملة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4242816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370832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9560" y="437083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يُعتمد من قيمة الطلب غير المكتمل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5029200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157216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909560" y="51572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يُعتمد من قيمة الطلب المعتمد كاملاً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«الموافقة الجزئية» خسارة إيراد فعلية، إذ لا يُعتمد منها إلا نصف المبلغ المطلوب تقريباً، ولذلك تُحسب مع الفئة الخاسرة في النموذج.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يقع القرار اليوم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نكتشف الخلل بعد أن يصدر الرفض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الحالي يضع كل جهد التصحيح بعد صدور الرفض، حين تكون كلفته أعلى واحتمال نجاحه أقل.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378440" y="2304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93024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21040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21040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الطلب كما هو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8010144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4768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72784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72784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يردّ الضامن بالرفض أو الخصم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5961888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96512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24528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24528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يُجمَّع الناقص ويُعاد رفع الطلب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3913632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48256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C4362F"/>
          </a:solidFill>
          <a:ln w="12700">
            <a:solidFill>
              <a:srgbClr val="C436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تأخّر في بدء الخدمة، وجزء يُرفض نهائياً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78440" y="4078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سديد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3024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21040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يقيس احتمال عدم الاكتمال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8010144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72784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72784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يرتّب الأسباب المرجّحة للردّ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5961888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6512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4528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24528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يُستكمَل الناقص قبل الرفع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3913632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48256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76272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76272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مكتملاً من أول مرّة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57784" y="5394960"/>
            <a:ext cx="11045952" cy="731520"/>
          </a:xfrm>
          <a:prstGeom prst="roundRect">
            <a:avLst>
              <a:gd name="adj" fmla="val 75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541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قبل الرفع أرخص من إعادة الطلب بعد الرفض، فهو لا يستهلك دورة مراجعة لدى الضامن ولا يؤخّر بدء الخدمة.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سديد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طبقات فوق الطلب الواحد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جميعها داخل المتصفّح، بلا خادم ولا واجهة برمجية، ولا تغادر بيانات الطلب جهاز المستخدم.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17936" y="1993392"/>
            <a:ext cx="457200" cy="457200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179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39328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التنبّؤ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39328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ألّا تصدر الموافقة كاملة، مقارَناً بالمعدّل العام، مع تقدير المبلغ المتوقّع اعتماده والمبلغ المعرّض للخطر بالريال.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39328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· 29 خاصية · AUC 0.810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41464" y="1993392"/>
            <a:ext cx="457200" cy="457200"/>
          </a:xfrm>
          <a:prstGeom prst="ellipse">
            <a:avLst/>
          </a:prstGeom>
          <a:solidFill>
            <a:srgbClr val="96590F"/>
          </a:solidFill>
          <a:ln w="12700">
            <a:solidFill>
              <a:srgbClr val="9659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4146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2856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62856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أرجح أسباب عدم الموافقة مرتّبة، ومع كل سبب إجراء تصحيحي محدّد يُنفَّذ قبل الرفع، لا تنبيه مجرّد.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سبباً معيارياً · دقّة التشخيص 68 بالمئة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64992" y="1993392"/>
            <a:ext cx="457200" cy="457200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499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86384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الإسناد النظامي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6384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«سَنَد» يربط كل سبب بنصّ لائحة مجلس الضمان الصحي المنطبق عليه، بصورة صفحته ورقمها.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مستنداً · 268 صفحة مفهرسة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" y="4828032"/>
            <a:ext cx="11045952" cy="1078992"/>
          </a:xfrm>
          <a:prstGeom prst="roundRect">
            <a:avLst>
              <a:gd name="adj" fmla="val 508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749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تنبّؤ مشروح بقيم SHAP محسوبة بدقّة تامة داخل المتصفّح، فيرى المستخدم أي عامل رفع الخطر وبكم، ولا يُطلب منه الوثوق بصندوق مغلق.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عملياً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مخرَج واحد يفهمه موظّف الموافقات فوراً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لقطة فعلية من صفحة التنبؤ، بعد إدخال بيانات طلب واحد قبل رفعه للضامن.</a:t>
            </a:r>
            <a:endParaRPr lang="en-US" sz="1400" dirty="0"/>
          </a:p>
        </p:txBody>
      </p:sp>
      <p:pic>
        <p:nvPicPr>
          <p:cNvPr id="5" name="Image 0" descr="../docs/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91640"/>
            <a:ext cx="722376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6916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02168" y="1837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صريح لا درجة غامضة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02168" y="21671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 بالمئة احتمال ألّا تصدر الموافقة كاملة، ومقارنته بالمعدّل العام لطلبات الموافقة.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30632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02168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بالريال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02168" y="35387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المبلغ المتوقّع اعتماده والمبلغ المعرّض للخطر، بلغة الإدارة المالية لا بلغة النموذج.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01000" y="44348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4581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توجيه للخطوة التالية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02168" y="49103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إحالة مباشرة إلى الأسباب المرجّحة وإجرائها التصحيحي قبل الرفع.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 في المثال قيمته 1,450 ريالاً، والمعرّض للخطر منه 1,196 ريالاً.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التنبّؤ إلى إجراء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المهمّ ليس أنّ الطلب سيُردّ، بل ما الذي ينقصه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سبب متوقَّع يتحوّل إلى بند عمل يحمل سؤال تحقّق، وإجراءً تصحيحياً، ونصّاً نظامياً يسنده.</a:t>
            </a:r>
            <a:endParaRPr lang="en-US" sz="1400" dirty="0"/>
          </a:p>
        </p:txBody>
      </p:sp>
      <p:pic>
        <p:nvPicPr>
          <p:cNvPr id="5" name="Image 0" descr="../docs/img/cas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783080"/>
            <a:ext cx="7589520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783080"/>
            <a:ext cx="3236976" cy="2697480"/>
          </a:xfrm>
          <a:prstGeom prst="roundRect">
            <a:avLst>
              <a:gd name="adj" fmla="val 203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975104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595360" y="2651760"/>
            <a:ext cx="2779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الحالات يكون السبب الصحيح ضمن الأسباب الثلاثة الأولى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95360" y="3456432"/>
            <a:ext cx="2779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17.7 بالمئة لو خُمِّن السبب اعتباطاً، أي نحو أربعة أضعاف التخمين.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10728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في المستندات المطلوبة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93608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أرفق تقرير الطوارئ والتاريخ المرضي ونتائج التحاليل قبل الرفع.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34256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17136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تنطبق معايير الطوارئ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17136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وثّق العلامات الحيوية وتصنيف CTAS لإثبات صفة الطوارئ.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الحالة ضمن استثناءات الوثيقة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0664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بنود الاستثناء في العقد، وأبلغ المريض بالتحمّل مسبقاً.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نماذج من الأسباب الستة عشر المعيارية، ومع كل سبب إجراؤه التصحيحي كما يعرضه سديد.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سَنَد · الطبقة النظامية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الحجّة أمام الضامن تحتاج نصّاً، لا رأياً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مرجعي يجيب من 29 مستنداً من لوائح مجلس الضمان الصحي، بصورة الصفحة ورقمها مع كل إجابة.</a:t>
            </a:r>
            <a:endParaRPr lang="en-US" sz="1400" dirty="0"/>
          </a:p>
        </p:txBody>
      </p:sp>
      <p:pic>
        <p:nvPicPr>
          <p:cNvPr id="5" name="Image 0" descr="../docs/img/cha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57216" cy="40965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51576" y="18013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51576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" y="18288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 تشغيلية مبسّطة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7784" y="22128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يعيد صياغة الحكم بلغة العمل («على مقدم الخدمة…») ويستخرج المدد والنسب والمبالغ في شارات ظاهرة.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51576" y="31729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57784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منقولاً حرفياً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7784" y="35844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اسم المستند ورقم الصفحة وصورتها الكاملة، وكل جملة تحمل رقم مرجعها والضغط عليه ينقلك إليه.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51576" y="45445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51576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7784" y="4572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توليد لغوي حرّ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57784" y="49560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الصياغة تُركَّب من مكوّنات مستخرَجة من النصّ نفسه، فلا مجال لأن يُنسب إلى اللائحة ما ليس فيها.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57784" y="5852160"/>
            <a:ext cx="557784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" y="58521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هو المرجع عند أي تعارض، والمنصّة تعرضه ولا تلخّصه فحسب.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الأداء المقيس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ست خوارزميات، واعتُمد أدقّها تمييزاً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هو المقياس المعتمد للاختيار، فهو لا يتأثر بعتبة القرار ولا بتوزيع الفئات.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13848" y="200253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09560" y="19659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تُلتقط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2807208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02666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09560" y="2990088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الإنذارات صحيحة فعلاً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31336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0507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72.4%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909560" y="401421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دقّة إجمالية · رفع 21.8 نقطة فوق الأساس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855464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0749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909560" y="5038344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قوّة التمييز بين الفئتين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مقيسة على 8,209 طلبات من آخر الفترة لم يرها النموذج أثناء التدريب · عتبة القرار 0.45 مختارة على شريحة تحقّق منفصلة.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مصداقية الرقم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يمكن الوثوق بأداء لم يُقس على بيانات مستقبلية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قرارات منهجية كلّفت المنصّة نقاط دقّة ظاهرية، مقابل رقم يصمد عند التشغيل.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81928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63656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63656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01384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تقسيم زمني لا عشوائي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01384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التدريب على الفترة الأقدم والاختبار على الأحدث، وهو تقييم أقسى من التقسيم العشوائي الذي يبالغ عادةً في تقدير الأداء.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39512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9512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كل عمود يُعرف بعد قرار الضامن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استُبعد المبلغ المغطى وسبب الرفض ورقم الموافقة وتاريخ الخروج، فلا يتعلّم النموذج من إجابة لن تكون متاحة وقت التنبّؤ.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81928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63656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63656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1384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حقل قويّ لأنه غير موثوق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01384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حُذف «حالة الفاتورة» رغم مساهمته بنحو 12.7 بالمئة من أهمية النموذج، لأنه قد يُحدَّث بعد قرار الضامن. كلّف ذلك نحو 3 نقاط دقّة.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9512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9512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تحقّق من التنفيذ في المتصفّح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مخرجات محرّك المتصفّح بمكتبات بايثون المرجعية، وأقصى فارق في قيم SHAP أقلّ من جزء واحد من مليون، أي تطابق عملي تام.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" y="5632704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5157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الرقم المعروض هو ما ينبغي توقّعه عند التشغيل، لا سقفاً مثالياً في المختبر.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العائد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القيمة من 1,000 طلب موافقة إلى ريال مُستعاد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نسبة في المسار مقيسة على بيانات الاختبار، عدا الأخيرة فهي افتراض تشغيلي متحفّظ.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" y="175564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DCE6E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186537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596896" y="1865376"/>
            <a:ext cx="8778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يُرفَع للضامن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68296" y="2532888"/>
            <a:ext cx="9235440" cy="640080"/>
          </a:xfrm>
          <a:prstGeom prst="roundRect">
            <a:avLst>
              <a:gd name="adj" fmla="val 7143"/>
            </a:avLst>
          </a:prstGeom>
          <a:solidFill>
            <a:srgbClr val="F3D9D7"/>
          </a:solidFill>
          <a:ln w="12700">
            <a:solidFill>
              <a:srgbClr val="F3D9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9464" y="264261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42816" y="264261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 تصدر موافقته كاملة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2670048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49.4% من المرفوع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14216" y="3310128"/>
            <a:ext cx="7589520" cy="640080"/>
          </a:xfrm>
          <a:prstGeom prst="roundRect">
            <a:avLst>
              <a:gd name="adj" fmla="val 7143"/>
            </a:avLst>
          </a:prstGeom>
          <a:solidFill>
            <a:srgbClr val="BBD5E6"/>
          </a:solidFill>
          <a:ln w="12700">
            <a:solidFill>
              <a:srgbClr val="BBD5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5384" y="341985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888736" y="341985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يلتقطه سديد قبل الرفع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" y="3447288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 استرجاع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0136" y="4087368"/>
            <a:ext cx="5943600" cy="640080"/>
          </a:xfrm>
          <a:prstGeom prst="roundRect">
            <a:avLst>
              <a:gd name="adj" fmla="val 7143"/>
            </a:avLst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1304" y="4197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534656" y="41970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يُشخَّص سببه الصحيح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" y="422452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 دقّة التشخيص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06056" y="4864608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7224" y="497433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– 125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80576" y="497433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يُصحَّح ويُرفَع مكتملاً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" y="5001768"/>
            <a:ext cx="6528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– 50% نسبة الإصلاح (افتراض)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" y="5742432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8613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طلب يتحوّل من «غير مكتمل» إلى «معتمد كاملاً» يستعيد 83.8 بالمئة من قيمته، فترتفع التغطية المعتمدة بمقدار 4.2 إلى 10.5 نقطة على قيمة كل ما يُرفَع.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العائد السنوي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يعنيه ذلك بالريال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181,000 طلب موافقة سنوياً يمرّ عبر الفحص · القيم بملايين الريالات، تغطيةً معتمدة إضافية سنوياً · الأعمدة تمثّل نسبة الإصلاح المفترضة.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ريال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ريال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ريال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ريال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75.8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94.7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19963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28232" y="4773168"/>
            <a:ext cx="4946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1,622 ريال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6428232" y="528523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تغطية معتمدة إضافية عن كل ساعة مراجعة قبل الرفع، بأدنى قيمة طلب وأدنى نسبة إصلاح. ترتفع إلى 4,865 ريالاً عند متوسط طلب 3,000 ريال.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7607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04672" y="4809744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العمود الأخضر هو سيناريو التخطيط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04672" y="5193792"/>
            <a:ext cx="49469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يفترض أن خُمس الحالات المُشخَّصة فقط قابلة للإصلاح قبل الرفع. أي رقم فوقه مكسب إضافي، لا شرط للجدوى.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 غير متاح في بيانات النموذج، فعُرض العائد كجدول حساسية تُسقِط عليه الإدارة رقمها الفعلي مباشرة.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 والحدود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يكلّفه هذا، وما الذي لا يفعله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صريح للجانبين، لأن قرار التبنّي يحتاج الحدّين معاً.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9963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5566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5566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ميزانية تطوير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5566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ومُوثَّقة بالكامل.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5566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كلفة بنية تحتية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5566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داخل المتصفّح، بلا خادم ولا قاعدة بيانات ولا كلفة لكل طلب.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5566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مخاطرة خصوصية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5566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الطلب لا تغادر جهاز المستخدم، ولا يستعمل النموذج أي معرّف شخصي.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5566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الكلفة الوحيدة هي وقت المراجعة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566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يُعلَّم 516 من كل 1,000 طلب للمراجعة قبل الرفع، والعتبة قابلة للرفع لتضييق هذا العدد.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قرار لا بديل عن المراجعة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210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يُتّخذ قرار برفض خدمة لمريض بناءً عليه إطلاقاً.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يميل إلى الإنذار عمداً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210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29 بالمئة ممّا يُعلَّم يُعتمد فعلاً بالكامل، وهو ثمن مقصود مقابل التقاط 74 بالمئة من غير المكتملة.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210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يميّز الرفض من الخصم الجزئي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ينذر بأن الموافقة لن تكتمل، دون تحديد أيّهما.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10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يتدهور بتغيّر سياسات الضامنين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10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يُعاد التدريب كل ربع سنة، وهو إجراء مؤتمت بأمر واحد.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المخاطرة الأساسية ليست في النموذج بل في التبنّي، فأداة لا تُدخَل في المسار الإلزامي لا تُنتج عائداً.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التشغيل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مراحل خلال ربع واحد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10728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7936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17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39328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تجريبي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339328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مستشفى واحد وأعلى ثلاثة عقود قيمةً، وتُقاس فيه نسبة الإصلاح الفعلية ميدانياً.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339328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41464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4146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62856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الفحص المسبق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سديد خطوةً إلزامية قبل رفع الطلب في المسار المعتمد، وربط مخرجاته بلوحة Power BI القائمة.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2856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57784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6384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التعميم والمتابعة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86384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 على مستوى التجمع، وإعادة تدريب ربع سنوية، ومتابعة أثر الاعتماد شهرياً.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مستمرّ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7784" y="4352544"/>
            <a:ext cx="110459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55371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901184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التشغيل التجريبي في مستشفى واحد لمدة أربعة أسابيع، وتكليف إدارة أداء تنمية الإيرادات بقياس نسبة الإصلاح الفعلية ورفع نتيجتها.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608990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 ·  تجمع مكة المكرمة الصحي  ·  إدارة أداء تنمية الإيرادات  ·  إعداد: هاني السلمي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Makkah Health Cluster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سديد — عرض للإدارة التنفيذية</dc:title>
  <dc:subject>PptxGenJS Presentation</dc:subject>
  <dc:creator>Hani Alsulami</dc:creator>
  <cp:lastModifiedBy>Hani Alsulami</cp:lastModifiedBy>
  <cp:revision>1</cp:revision>
  <dcterms:created xsi:type="dcterms:W3CDTF">2026-08-19T01:14:43Z</dcterms:created>
  <dcterms:modified xsi:type="dcterms:W3CDTF">2026-08-19T01:14:43Z</dcterms:modified>
</cp:coreProperties>
</file>