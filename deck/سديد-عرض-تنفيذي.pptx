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الاعتماد</c:v>
                </c:pt>
              </c:strCache>
            </c:strRef>
          </c:tx>
          <c:spPr>
            <a:solidFill>
              <a:srgbClr val="1B6FA8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238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مرفوضة</c:v>
                  </c:pt>
                  <c:pt idx="1">
                    <c:v>موافقة جزئية</c:v>
                  </c:pt>
                  <c:pt idx="2">
                    <c:v>موافقة كاملة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0.499</c:v>
                </c:pt>
                <c:pt idx="2">
                  <c:v>0.9263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400" u="none">
                  <a:solidFill>
                    <a:srgbClr val="1238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238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D6E2E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B6FA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38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تخمين عشوائي</c:v>
                  </c:pt>
                  <c:pt idx="1">
                    <c:v>انحدار لوجستي</c:v>
                  </c:pt>
                  <c:pt idx="2">
                    <c:v>أشجار إضافية</c:v>
                  </c:pt>
                  <c:pt idx="3">
                    <c:v>XGBoost</c:v>
                  </c:pt>
                  <c:pt idx="4">
                    <c:v>غابة عشوائية</c:v>
                  </c:pt>
                  <c:pt idx="5">
                    <c:v>LightGBM المعتمد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0.734</c:v>
                </c:pt>
                <c:pt idx="2">
                  <c:v>0.8</c:v>
                </c:pt>
                <c:pt idx="3">
                  <c:v>0.8018</c:v>
                </c:pt>
                <c:pt idx="4">
                  <c:v>0.8019</c:v>
                </c:pt>
                <c:pt idx="5">
                  <c:v>0.8098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238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8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b"/>
        <c:majorGridlines>
          <c:spPr>
            <a:ln w="12700" cap="flat">
              <a:solidFill>
                <a:srgbClr val="D6E2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الإرسال آليّ ولا نتحكّم فيه. سديد يعمل على ما بعد الردّ وعلى ما قبل إنشاء الطلب — لا في مسار الإرسال. المنصّة مبنيّة وجاهزة، والعرض اليوم عن العائد لا عن التمويل.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الرقم الثاني يعمل اليوم بلا تعديل في أي نظام. والثالث الأكثر تحفّظاً: يفترض أن خُمس حالات نقص البيانات فقط يُمنع رفضها. تفصيلهما في شريحتي نموذج العائد.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 أن الفرق بين النتيجتين ليس تدريجياً بل قفزة. تحويل طلب واحد من الفئة الخاسرة إلى المقبولة يستعيد نحو 84 نقطة من قيمته.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أهم شريحة في العرض. من يظنّ أن الأداة تعترض الإرسال سيرفضها فوراً لأنها تؤخّر المريض. اذكر صراحةً أنها لا تفعل.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طبقة الإسناد النظامي هي ما يميّز سديد عن أداة تنبّؤ عادية، إذ تحوّل التنبّؤ إلى حجّة نظامية قابلة للاستعمال أمام شركة التأمين.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لقطة حقيقية من الأداة وليست تصوّراً. الموظّف يقرأ الرقم والمبلغ ثم ينتقل مباشرة إلى تبويب الأسباب.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نقطة تحوّل المنصّة من أداة تحليل إلى أداة تشغيل: الموظّف لا يحتاج تفسير النموذج، بل قائمة عمل.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سَنَد يعمل بلا اتصال خارجي في وضعه الأساسي. الطبقة التوليدية اختيارية ومُطفأة افتراضياً.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العتبة 0.45 لا 0.5، خُفِّضت عمداً لأن تفويت حالة خاسرة أغلى من إنذار زائد يُراجَع في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للسؤال المتوقّع: كل نموذج يبدو ممتازاً في العرض. الجواب أننا خفّضنا الرقم عمداً أربع مرات.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الصفّان الأوسطان قيمة تعمل اليوم بلا أي تعديل في الأنظمة. والصفّ الأخير هو مسار المنع، وهو الوحيد الذي يحتاج تعديلاً في النظام الصحي — ونسبة المنع فيه الافتراض الوحيد غير المقيس.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تدافع عن خانة بعينها. الرسالة أن أضعف خانة في الجدول ما تزال تفوق كلفة التشغيل بمراتب.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الحدود بثقة. الإدارة تثق بالعرض الذي يذكر حدوده أكثر من العرض الذي يخفيها.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تحوّل الحدّين الأخيرين في الشريحة السابقة إلى خطة. لا تَعِد بتحسّن في الدقّة — المكسب المؤكّد هو قابلية التنفيذ، وهي التي ترفع سقف نسبة الإصلاح في نموذج العائد.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الطلب شقّان: الأول يبدأ غداً بلا تعديل في أي نظام، والثاني دراسة لا التزام. المال الأكبر في الثاني، لكن الأول هو ما يثبت الجدوى قبل طلب أي تعديل تقني.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sad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566928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574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سديد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731520" y="305409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التنبؤ بالموافقة التأمينية المسبقة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31520" y="3858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7B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رُفض هذا الطلب، وما الذي يمنع رفض ما بعده؟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921240" y="5230368"/>
            <a:ext cx="15087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./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5376672"/>
            <a:ext cx="96012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35838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تجمع مكة المكرمة الصحي  ·  إدارة أداء تنمية الإيرادات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577900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B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للإدارة التنفيذية  ·  أغسطس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 التنفيذية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أرقام تختصر القرار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الأرقام مقيسة على 41,042 طلباً صدر فيها قرار نهائي، بتقسيم زمني يدرّب على الفترة الأقدم ويختبر على الأحدث.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10728" y="1783080"/>
            <a:ext cx="349300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9328" y="196596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48.7%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339328" y="27614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قيمة ما يُطلب من شركة التأمين لا يُعتمد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39328" y="3346704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بين المبلغ المطلوب والمبلغ المعتمد، قبل أي تدخّل.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49300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196596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95.8%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62856" y="27614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ردود شركات التأمين تُصنَّف آلياً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2856" y="3346704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نصّ حرّ مبعثر إلى سبب معياري، مع إجراء تصحيحي ونصّ نظامي يسنده.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784" y="1783080"/>
            <a:ext cx="349300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196596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‪+3.5%‬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86384" y="27614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 أدنى لارتفاع التغطية المعتمدة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" y="3346704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بفرض اكتمال الحد الأدنى للبيانات قبل الإرسال الآلي، ويصل إلى 8.7 نقطة.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7784" y="4315968"/>
            <a:ext cx="11045952" cy="1737360"/>
          </a:xfrm>
          <a:prstGeom prst="roundRect">
            <a:avLst>
              <a:gd name="adj" fmla="val 3158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5171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يُعرض هذا الآن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الإرسال آليّ من النظام الصحي عبر نفيس، فلا يعترض سديد مسار الإرسال ولا يؤخّره.</a:t>
            </a:r>
            <a:endParaRPr lang="en-US" sz="15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المطلوبان: اعتماده أداةً لفريق الموافقات في معالجة المرفوضات اليوم، ودراسة فرض اكتمال البيانات في النظام الصحي غداً.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مخرجات التدريب في model/artifacts/metrics.json — بيانات 2026-01-01 إلى 2026-07-18.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شركة التأمين يحسم الإيراد، لا التفاوض بعده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المبلغ المعتمد من إجمالي المبلغ المطلوب، محسوبة من السجل التاريخي لكل نتيجة قرار.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57784" y="178308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783080"/>
            <a:ext cx="3877056" cy="1481328"/>
          </a:xfrm>
          <a:prstGeom prst="roundRect">
            <a:avLst>
              <a:gd name="adj" fmla="val 3704"/>
            </a:avLst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1938528"/>
            <a:ext cx="3419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48.7%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0" y="2615184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كل ريال يُطلب لا يصدر اعتماده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3456432"/>
            <a:ext cx="3877056" cy="676656"/>
          </a:xfrm>
          <a:prstGeom prst="roundRect">
            <a:avLst>
              <a:gd name="adj" fmla="val 8108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13848" y="35844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56.7%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909560" y="35844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الطلبات لا تصدر موافقتها كاملة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26680" y="4242816"/>
            <a:ext cx="3877056" cy="676656"/>
          </a:xfrm>
          <a:prstGeom prst="roundRect">
            <a:avLst>
              <a:gd name="adj" fmla="val 8108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13848" y="437083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09560" y="437083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يُعتمد من قيمة الطلب غير المكتمل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26680" y="5029200"/>
            <a:ext cx="3877056" cy="676656"/>
          </a:xfrm>
          <a:prstGeom prst="roundRect">
            <a:avLst>
              <a:gd name="adj" fmla="val 8108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13848" y="5157216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92.6%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909560" y="515721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يُعتمد من قيمة الطلب المعتمد كاملاً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«الموافقة الجزئية» خسارة إيراد فعلية، إذ لا يُعتمد منها إلا نصف المبلغ المطلوب تقريباً، ولذلك تُحسب مع الفئة الخاسرة في النموذج.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الدورة كما هي فعلاً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الإرسال آليّ — والعمل البشريّ كلّه بعد الرفض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لحظة يدوية قبل الإرسال، فالطلب يغادر النظام الصحي إلى نفيس دون تدخّل. ومن هنا يبدأ سديد.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16568" y="1783080"/>
            <a:ext cx="24871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073384" y="1938528"/>
            <a:ext cx="347472" cy="347472"/>
          </a:xfrm>
          <a:prstGeom prst="ellipse">
            <a:avLst/>
          </a:prstGeom>
          <a:solidFill>
            <a:srgbClr val="D6E2ED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73384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99448" y="1975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الصحي HIS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299448" y="237744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يُنشئ الطلب ويرسله آلياً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8915400" y="2395728"/>
            <a:ext cx="182880" cy="201168"/>
          </a:xfrm>
          <a:prstGeom prst="rightArrow">
            <a:avLst/>
          </a:prstGeom>
          <a:solidFill>
            <a:srgbClr val="D6E2ED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91656" y="1783080"/>
            <a:ext cx="24871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48472" y="1938528"/>
            <a:ext cx="347472" cy="347472"/>
          </a:xfrm>
          <a:prstGeom prst="ellipse">
            <a:avLst/>
          </a:prstGeom>
          <a:solidFill>
            <a:srgbClr val="D6E2ED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74536" y="1975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نفيس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74536" y="237744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تمرّره إلى شركة التأمين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>
            <a:off x="6190488" y="2395728"/>
            <a:ext cx="182880" cy="201168"/>
          </a:xfrm>
          <a:prstGeom prst="rightArrow">
            <a:avLst/>
          </a:prstGeom>
          <a:solidFill>
            <a:srgbClr val="D6E2ED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66744" y="1783080"/>
            <a:ext cx="248716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1938528"/>
            <a:ext cx="347472" cy="347472"/>
          </a:xfrm>
          <a:prstGeom prst="ellipse">
            <a:avLst/>
          </a:prstGeom>
          <a:solidFill>
            <a:srgbClr val="D6E2ED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9624" y="1975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شركة التأمين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49624" y="237744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تردّ بالموافقة أو الرفض أو الخصم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H="1">
            <a:off x="3465576" y="2395728"/>
            <a:ext cx="182880" cy="201168"/>
          </a:xfrm>
          <a:prstGeom prst="rightArrow">
            <a:avLst/>
          </a:prstGeom>
          <a:solidFill>
            <a:srgbClr val="D6E2ED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" y="1783080"/>
            <a:ext cx="2487168" cy="1417320"/>
          </a:xfrm>
          <a:prstGeom prst="roundRect">
            <a:avLst>
              <a:gd name="adj" fmla="val 3871"/>
            </a:avLst>
          </a:prstGeom>
          <a:solidFill>
            <a:srgbClr val="EFF4F9"/>
          </a:solidFill>
          <a:ln w="19050">
            <a:solidFill>
              <a:srgbClr val="1B6FA8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98648" y="1938528"/>
            <a:ext cx="347472" cy="347472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98648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4712" y="1975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الموافقات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4712" y="237744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يعالج المرفوضات ويعيد إرسالها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7784" y="3346704"/>
            <a:ext cx="11045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494 من كل 1,000 طلب تعود غير مكتملة — وكلّها تقع على فريق الموافقات.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81928" y="3840480"/>
            <a:ext cx="5321808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40233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00" kern="0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4334256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معالجة المرفوضات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37960" y="4773168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يصنّف ردّ شركة التأمين إلى سبب معياري، ويُلحق به إجراءً تصحيحياً ونصّاً نظامياً، ويرتّب الطابور بالمبلغ المعرّض للخطر. لا يحتاج تعديلاً في أي نظام.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7784" y="3840480"/>
            <a:ext cx="5321808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3816" y="40233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التالية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" y="4334256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المنبع داخل النظام الصحي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13816" y="4773168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فرض اكتمال الحد الأدنى للبيانات قبل الإرسال الآلي. سديد يحدّد أي الحقول تُنتج الرفض فعلاً، فيُفرض ما يُجدي منها لا كلّها.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سديد لا يعترض الإرسال الآلي ولا يؤخّر بدء الخدمة — يعمل على طرفي الدورة لا في منتصفها.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سديد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طبقات فوق الطلب الواحد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جميعها داخل المتصفّح، بلا خادم ولا واجهة برمجية، ولا تغادر بيانات الطلب جهاز المستخدم.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10728" y="1783080"/>
            <a:ext cx="349300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17936" y="1993392"/>
            <a:ext cx="457200" cy="457200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1793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39328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التنبّؤ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39328" y="2615184"/>
            <a:ext cx="3035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احتمال ألّا تصدر الموافقة كاملة والمبلغ المعرّض للخطر بالريال — لترتيب طابور المعالجة بالمال، ولرصد الأنماط المتكرّرة في لوحة Power BI.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39328" y="3968496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· 29 خاصية · AUC 0.810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1783080"/>
            <a:ext cx="349300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41464" y="1993392"/>
            <a:ext cx="457200" cy="457200"/>
          </a:xfrm>
          <a:prstGeom prst="ellipse">
            <a:avLst/>
          </a:prstGeom>
          <a:solidFill>
            <a:srgbClr val="96590F"/>
          </a:solidFill>
          <a:ln w="12700">
            <a:solidFill>
              <a:srgbClr val="9659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14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62856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التشخيص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62856" y="2615184"/>
            <a:ext cx="3035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ردّ شركة التأمين من نصّ حرّ مبعثر إلى سبب معياري، ومع كل سبب إجراء تصحيحي محدّد قبل إعادة الإرسال.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2856" y="3968496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96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سبباً معيارياً · دقّة التشخيص 68 بالمئة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" y="1783080"/>
            <a:ext cx="349300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64992" y="1993392"/>
            <a:ext cx="457200" cy="457200"/>
          </a:xfrm>
          <a:prstGeom prst="ellipse">
            <a:avLst/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6384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الإسناد النظامي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86384" y="2615184"/>
            <a:ext cx="30358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«سَنَد» يربط كل سبب بنصّ لائحة مجلس الضمان الصحي المنطبق عليه، بصورة صفحته ورقمها.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" y="3968496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مستنداً · 268 صفحة مفهرسة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" y="4828032"/>
            <a:ext cx="11045952" cy="1078992"/>
          </a:xfrm>
          <a:prstGeom prst="roundRect">
            <a:avLst>
              <a:gd name="adj" fmla="val 508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5074920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تنبّؤ مشروح بقيم SHAP محسوبة بدقّة تامة داخل المتصفّح، فيرى المستخدم أي عامل رفع الخطر وبكم، ولا يُطلب منه الوثوق بصندوق مغلق.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المنصّة عملياً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مخرَج واحد يفهمه موظّف الموافقات فوراً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فعلية من صفحة التنبؤ، بعد إدخال بيانات طلب واحد قبل رفعه لشركة التأمين.</a:t>
            </a:r>
            <a:endParaRPr lang="en-US" sz="1400" dirty="0"/>
          </a:p>
        </p:txBody>
      </p:sp>
      <p:pic>
        <p:nvPicPr>
          <p:cNvPr id="5" name="Image 0" descr="../docs/img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691640"/>
            <a:ext cx="7223760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691640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02168" y="1837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احتمال صريح لا درجة غامضة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02168" y="21671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89.6 بالمئة احتمال ألّا تصدر الموافقة كاملة، ومقارنته بالمعدّل العام لطلبات الموافقة.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1000" y="3063240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02168" y="32095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بالريال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02168" y="35387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المتوقّع اعتماده والمبلغ المعرّض للخطر، بلغة الإدارة المالية لا بلغة النموذج.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4434840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02168" y="4581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توجيه للخطوة التالية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02168" y="49103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إحالة مباشرة إلى الأسباب المرجّحة وإجرائها التصحيحي قبل إعادة الإرسال.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في المثال قيمته 1,450 ريالاً، والمعرّض للخطر منه 1,196 ريالاً.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ردّ شركة التأمين إلى إجراء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الردّ يصل نصّاً مبعثراً — وسديد يحوّله إلى بند عمل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‏4,844 نصّ ردٍّ مختلف صُنِّفت إلى 16 سبباً معيارياً بتغطية 95.8%، ومع كل سبب سؤال تحقّق وإجراء ونصّ نظامي.</a:t>
            </a:r>
            <a:endParaRPr lang="en-US" sz="1400" dirty="0"/>
          </a:p>
        </p:txBody>
      </p:sp>
      <p:pic>
        <p:nvPicPr>
          <p:cNvPr id="5" name="Image 0" descr="../docs/img/case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83080"/>
            <a:ext cx="7589520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783080"/>
            <a:ext cx="3236976" cy="2697480"/>
          </a:xfrm>
          <a:prstGeom prst="roundRect">
            <a:avLst>
              <a:gd name="adj" fmla="val 2034"/>
            </a:avLst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1975104"/>
            <a:ext cx="2779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95.8%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595360" y="2651760"/>
            <a:ext cx="2779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ردود شركات التأمين يصنّفها سديد آلياً إلى سبب معياري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360" y="3456432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B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وهذه الطبقة تعمل اليوم على المرفوضات الفعلية بلا تعديل في أي نظام. ويتنبّأ سديد بالسبب مسبقاً كذلك، بدقّة 68 بالمئة ضمن الثلاثة الأولى.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10728" y="4709160"/>
            <a:ext cx="3493008" cy="1188720"/>
          </a:xfrm>
          <a:prstGeom prst="roundRect">
            <a:avLst>
              <a:gd name="adj" fmla="val 461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48463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نقص في المستندات المطلوبة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93608" y="5157216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أرفق تقرير الطوارئ والتاريخ المرضي ونتائج التحاليل قبل إعادة الإرسال.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34256" y="4709160"/>
            <a:ext cx="3493008" cy="1188720"/>
          </a:xfrm>
          <a:prstGeom prst="roundRect">
            <a:avLst>
              <a:gd name="adj" fmla="val 461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17136" y="48463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تنطبق معايير الطوارئ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17136" y="5157216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وثّق العلامات الحيوية وتصنيف CTAS لإثبات صفة الطوارئ.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" y="4709160"/>
            <a:ext cx="3493008" cy="1188720"/>
          </a:xfrm>
          <a:prstGeom prst="roundRect">
            <a:avLst>
              <a:gd name="adj" fmla="val 461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" y="484632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ضمن استثناءات الوثيقة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0664" y="5157216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بنود الاستثناء في العقد، وأبلغ المريض بالتحمّل مسبقاً.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من الأسباب الستة عشر المعيارية، ومع كل سبب إجراؤه التصحيحي ونصّه النظامي كما يعرضه سديد.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سَنَد · الطبقة النظامية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الحجّة أمام شركة التأمين تحتاج نصّاً، لا رأياً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مرجعي يجيب من 29 مستنداً من لوائح مجلس الضمان الصحي، بصورة الصفحة ورقمها مع كل إجابة.</a:t>
            </a:r>
            <a:endParaRPr lang="en-US" sz="1400" dirty="0"/>
          </a:p>
        </p:txBody>
      </p:sp>
      <p:pic>
        <p:nvPicPr>
          <p:cNvPr id="5" name="Image 0" descr="../docs/img/chat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37360"/>
            <a:ext cx="5157216" cy="4096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51576" y="1801368"/>
            <a:ext cx="384048" cy="384048"/>
          </a:xfrm>
          <a:prstGeom prst="ellipse">
            <a:avLst/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51576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" y="18288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تشغيلية مبسّطة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7784" y="22128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يعيد صياغة الحكم بلغة العمل («على مقدم الخدمة…») ويستخرج المدد والنسب والمبالغ في شارات ظاهرة.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51576" y="3172968"/>
            <a:ext cx="384048" cy="384048"/>
          </a:xfrm>
          <a:prstGeom prst="ellipse">
            <a:avLst/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51576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7784" y="32004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النصّ الرسمي منقولاً حرفياً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7784" y="35844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اسم المستند ورقم الصفحة وصورتها الكاملة، وكل جملة تحمل رقم مرجعها والضغط عليه ينقلك إليه.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51576" y="4544568"/>
            <a:ext cx="384048" cy="384048"/>
          </a:xfrm>
          <a:prstGeom prst="ellipse">
            <a:avLst/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51576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7784" y="45720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توليد لغوي حرّ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57784" y="49560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الصياغة تُركَّب من مكوّنات مستخرَجة من النصّ نفسه، فلا مجال لأن يُنسب إلى اللائحة ما ليس فيها.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57784" y="5852160"/>
            <a:ext cx="557784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" y="5852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النصّ الرسمي هو المرجع عند أي تعارض، والمنصّة تعرضه ولا تلخّصه فحسب.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الأداء المقيس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قُورنت ست خوارزميات، واعتُمد أدقّها تمييزاً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هو المقياس المعتمد للاختيار، فهو لا يتأثر بعتبة القرار ولا بتوزيع الفئات.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57784" y="178308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783080"/>
            <a:ext cx="3877056" cy="896112"/>
          </a:xfrm>
          <a:prstGeom prst="roundRect">
            <a:avLst>
              <a:gd name="adj" fmla="val 6122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13848" y="200253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09560" y="19659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الطلبات غير المكتملة تُلتقط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2807208"/>
            <a:ext cx="3877056" cy="896112"/>
          </a:xfrm>
          <a:prstGeom prst="roundRect">
            <a:avLst>
              <a:gd name="adj" fmla="val 6122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13848" y="3026664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09560" y="299008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الإنذارات صحيحة فعلاً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26680" y="3831336"/>
            <a:ext cx="387705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13848" y="405079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09560" y="401421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دقّة إجمالية · رفع 21.8 نقطة فوق الأساس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26680" y="4855464"/>
            <a:ext cx="387705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13848" y="50749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09560" y="503834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· قوّة التمييز بين الفئتين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 32,833 طلباً (يناير — 3 يونيو) · اختبار 8,209 طلبات لاحقة لم يرها النموذج · العتبة 0.45 مختارة على 4,925 طلباً من نهاية فترة التدريب، لا على الاختبار.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مصداقية الرقم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يمكن الوثوق بأداء لم يُقس على بيانات مستقبلية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قرارات منهجية كلّفت المنصّة نقاط دقّة ظاهرية، مقابل رقم يصمد عند التشغيل.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81928" y="1783080"/>
            <a:ext cx="5321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63656" y="1984248"/>
            <a:ext cx="420624" cy="420624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6365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01384" y="2020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تقسيم زمني لا عشوائي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1384" y="2459736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32,833 طلباً للتدريب من الفترة الأقدم، و8,209 للاختبار من الأحدث. تقييم أقسى من التقسيم العشوائي الذي يبالغ عادةً في تقدير الأداء.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" y="1783080"/>
            <a:ext cx="5321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39512" y="1984248"/>
            <a:ext cx="420624" cy="420624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020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حذف كل عمود يُعرف بعد قرار شركة التأمين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459736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استُبعد المبلغ المغطى وسبب الرفض ورقم الموافقة وتاريخ الخروج، فلا يتعلّم النموذج من إجابة لن تكون متاحة وقت التنبّؤ.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81928" y="3703320"/>
            <a:ext cx="5321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63656" y="3904488"/>
            <a:ext cx="420624" cy="420624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63656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39410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حذف حقل قويّ لأنه غير موثوق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1384" y="4379976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حُذف «حالة الفاتورة» رغم مساهمته بنحو 12.7 بالمئة من أهمية النموذج، لأنه قد يُحدَّث بعد قرار شركة التأمين. كلّف ذلك نحو 3 نقاط دقّة.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" y="3703320"/>
            <a:ext cx="53218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39512" y="3904488"/>
            <a:ext cx="420624" cy="420624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9512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39410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التنفيذ في المتصفّح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379976"/>
            <a:ext cx="4882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قُورنت مخرجات محرّك المتصفّح بمكتبات بايثون المرجعية، وأقصى فارق في قيم SHAP أقلّ من جزء واحد من مليون، أي تطابق عملي تام.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" y="5632704"/>
            <a:ext cx="11045952" cy="603504"/>
          </a:xfrm>
          <a:prstGeom prst="roundRect">
            <a:avLst>
              <a:gd name="adj" fmla="val 9091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515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والنموذج المنشور أُعيد تدريبه على 41,042 طلباً كاملةً بعد تثبيت المعاملات، فالأرقام المعروضة تقدير متحفّظ لأدائه لا مبالغة فيه.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العائد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القيمة من 1,000 طلب يُرسَل آلياً إلى ريال مُستعاد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نسبة في المسار مقيسة على البيانات، عدا الأخيرة فهي افتراض تشغيلي متحفّظ.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" y="1755648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86537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96896" y="1865376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يرسله النظام الصحي آلياً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68296" y="2532888"/>
            <a:ext cx="9235440" cy="640080"/>
          </a:xfrm>
          <a:prstGeom prst="roundRect">
            <a:avLst>
              <a:gd name="adj" fmla="val 7143"/>
            </a:avLst>
          </a:prstGeom>
          <a:solidFill>
            <a:srgbClr val="F3D9D7"/>
          </a:solidFill>
          <a:ln w="12700">
            <a:solidFill>
              <a:srgbClr val="F3D9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9464" y="26426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494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42816" y="264261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يعود غير مكتمل إلى فريق الموافقات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267004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49.4% من المرسَل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14216" y="3310128"/>
            <a:ext cx="7589520" cy="640080"/>
          </a:xfrm>
          <a:prstGeom prst="roundRect">
            <a:avLst>
              <a:gd name="adj" fmla="val 7143"/>
            </a:avLst>
          </a:prstGeom>
          <a:solidFill>
            <a:srgbClr val="BBD5E6"/>
          </a:solidFill>
          <a:ln w="12700">
            <a:solidFill>
              <a:srgbClr val="BBD5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341985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888736" y="341985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يُصنَّف سببه آلياً بإجراء ونصّ نظامي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" y="34472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95.8% تغطية التصنيف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0136" y="4087368"/>
            <a:ext cx="5943600" cy="640080"/>
          </a:xfrm>
          <a:prstGeom prst="roundRect">
            <a:avLst>
              <a:gd name="adj" fmla="val 7143"/>
            </a:avLst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419709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34656" y="41970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سببه نقصٌ في الحد الأدنى للبيانات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" y="42245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من غير المكتمل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06056" y="4864608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497433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– 104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0576" y="49743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يُمنع رفضه بفرض الاكتمال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" y="5001768"/>
            <a:ext cx="6528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– 50% نسبة المنع (افتراض)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" y="5742432"/>
            <a:ext cx="11045952" cy="603504"/>
          </a:xfrm>
          <a:prstGeom prst="roundRect">
            <a:avLst>
              <a:gd name="adj" fmla="val 9091"/>
            </a:avLst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8613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طلب يتحوّل من «غير مكتمل» إلى «معتمد كاملاً» يستعيد 83.8 بالمئة من قيمته، فترتفع التغطية المعتمدة بمقدار 3.5 إلى 8.7 نقطة على قيمة كل ما يُرسَل.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العائد السنوي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يعنيه ذلك بالريال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 181,000 طلب سنوياً · القيم بملايين الريالات، تغطيةً معتمدة إضافية سنوياً · الأعمدة تمثّل نسبة ما يُمنع رفضه من حالات نقص البيانات.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86216" y="1737360"/>
            <a:ext cx="3017520" cy="512064"/>
          </a:xfrm>
          <a:prstGeom prst="rect">
            <a:avLst/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86216" y="17373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قيمة الطلب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737360"/>
            <a:ext cx="2002536" cy="512064"/>
          </a:xfrm>
          <a:prstGeom prst="rect">
            <a:avLst/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81144" y="1737360"/>
            <a:ext cx="2002536" cy="512064"/>
          </a:xfrm>
          <a:prstGeom prst="rect">
            <a:avLst/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73736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78608" y="1737360"/>
            <a:ext cx="2002536" cy="512064"/>
          </a:xfrm>
          <a:prstGeom prst="rect">
            <a:avLst/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73736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" y="1737360"/>
            <a:ext cx="2002536" cy="512064"/>
          </a:xfrm>
          <a:prstGeom prst="rect">
            <a:avLst/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3736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86216" y="2249424"/>
            <a:ext cx="3017520" cy="512064"/>
          </a:xfrm>
          <a:prstGeom prst="rect">
            <a:avLst/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224942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ريال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249424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24942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1144" y="2249424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224942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78608" y="2249424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224942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6072" y="2249424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24942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86216" y="2761488"/>
            <a:ext cx="3017520" cy="512064"/>
          </a:xfrm>
          <a:prstGeom prst="rect">
            <a:avLst/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86216" y="27614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ريال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2761488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76148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81144" y="2761488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276148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578608" y="2761488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276148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76072" y="2761488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276148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586216" y="3273552"/>
            <a:ext cx="3017520" cy="512064"/>
          </a:xfrm>
          <a:prstGeom prst="rect">
            <a:avLst/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86216" y="32735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ريال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0" y="3273552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27355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581144" y="3273552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27355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578608" y="3273552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78608" y="327355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37.8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76072" y="3273552"/>
            <a:ext cx="200253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327355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47.2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586216" y="3785616"/>
            <a:ext cx="3017520" cy="512064"/>
          </a:xfrm>
          <a:prstGeom prst="rect">
            <a:avLst/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86216" y="37856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ريال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83680" y="3785616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78561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31.5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4581144" y="3785616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81144" y="378561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47.2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2578608" y="3785616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78608" y="378561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62.9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76072" y="3785616"/>
            <a:ext cx="2002536" cy="512064"/>
          </a:xfrm>
          <a:prstGeom prst="rect">
            <a:avLst/>
          </a:prstGeom>
          <a:solidFill>
            <a:srgbClr val="FAFCFE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" y="378561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78.7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199632" y="4626864"/>
            <a:ext cx="5404104" cy="1371600"/>
          </a:xfrm>
          <a:prstGeom prst="roundRect">
            <a:avLst>
              <a:gd name="adj" fmla="val 4000"/>
            </a:avLst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28232" y="4773168"/>
            <a:ext cx="4946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كلفة تشغيل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428232" y="5285232"/>
            <a:ext cx="4946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المنع قاعدة تحقّق في النظام الصحي، لا مراجعة بشرية. تُضبط مرّة واحدة ثم تعمل على كل طلب بلا وقت موظّف ولا كلفة متكرّرة.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76072" y="4626864"/>
            <a:ext cx="5404104" cy="1371600"/>
          </a:xfrm>
          <a:prstGeom prst="roundRect">
            <a:avLst>
              <a:gd name="adj" fmla="val 4000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04672" y="4809744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العمود الأخضر هو سيناريو التخطيط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04672" y="5193792"/>
            <a:ext cx="4946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يفترض أن خُمس حالات نقص البيانات فقط يُمنع رفضها. أي رقم فوقه مكسب إضافي، لا شرط للجدوى. ولا يشمل الجدول مكسب تسريع معالجة المرفوضات، وهو يعمل اليوم.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قيمة الطلب غير متاح في بيانات النموذج، فعُرض العائد كجدول حساسية تُسقِط عليه الإدارة رقمها الفعلي مباشرة.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والحدود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يكلّفه هذا، وما الذي لا يفعله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صريح للجانبين، لأن قرار التبنّي يحتاج الحدّين معاً.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99632" y="1691640"/>
            <a:ext cx="5404104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55664" y="182880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B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55664" y="22860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ميزانية تطوير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55664" y="25511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المنصّة مبنيّة ومُختبَرة ومُوثَّقة بالكامل.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55664" y="30358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كلفة بنية تحتية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55664" y="33009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داخل المتصفّح، بلا خادم ولا قاعدة بيانات ولا كلفة لكل طلب.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55664" y="37856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مخاطرة خصوصية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40507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الطلب لا تغادر جهاز المستخدم، ولا يستعمل النموذج أي معرّف شخصي.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55664" y="45354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عبء مراجعة إضافياً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55664" y="4800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 يعالج المرفوضات أصلاً؛ سديد يختصر زمن تشخيصها ويرتّبها بالمبلغ، فيقلّل العبء لا يزيده.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55664" y="52852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كلفة لإعادة التدريب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55664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 مؤتمت بأمر واحد على البيانات الجديدة، بلا تدخّل هندسي.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1691640"/>
            <a:ext cx="5404104" cy="4370832"/>
          </a:xfrm>
          <a:prstGeom prst="roundRect">
            <a:avLst>
              <a:gd name="adj" fmla="val 1255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" y="182880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96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الحدود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" y="22860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يوقف الإرسال ولا يؤخّره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" y="25511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الإرسال آليّ من النظام الصحي، وسديد يعمل بعد الردّ أو في إعداد البيانات — لا في مسار الإرسال نفسه.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" y="30358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يميل إلى الإنذار عمداً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" y="33009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 29 بالمئة ممّا يُعلَّم يُعتمد فعلاً بالكامل، وهو ثمن مقصود مقابل التقاط 74 بالمئة من غير المكتملة.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" y="37856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ثقله في حقول لا تتغيّر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104" y="40507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 70 بالمئة من قوّته التنبّؤية في العقد والمستشفى والقسم، وهي حقول لا تُغيَّر بحال.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" y="45354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يستنتج السبب ولا يفحص المستندات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2104" y="4800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يقرأ المرفقات؛ بل يرتّب الأسباب الأرجح من أنماط 19,741 طلباً سابقاً.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104" y="52852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تصنيف الردود إنجليزية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104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غيّرت شركة تأمين صياغة ردودها سقط التصنيف صامتاً — تُراقَب نسبة «سبب غير مصنّف» شهرياً.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الحدّان الثالث والرابع ليسا عيباً دائماً، والشريحة التالية تعرض كيف يُرفعان.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السقف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الحدّ الأكبر اليوم هو ما لا يراه النموذج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دام الإرسال آلياً، فالمنع الوحيد الممكن هو ألّا يخرج الطلب ناقصاً من النظام الصحي أصلاً.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10728" y="1783080"/>
            <a:ext cx="3493008" cy="2194560"/>
          </a:xfrm>
          <a:prstGeom prst="roundRect">
            <a:avLst>
              <a:gd name="adj" fmla="val 2500"/>
            </a:avLst>
          </a:prstGeom>
          <a:solidFill>
            <a:srgbClr val="12384F"/>
          </a:solidFill>
          <a:ln w="12700">
            <a:solidFill>
              <a:srgbClr val="12384F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39328" y="1956816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339328" y="272491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حالات عدم الاعتماد سببها المباشر نقصٌ في الحد الأدنى للبيانات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39328" y="345643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B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وهي بيانات لا يراها النموذج اليوم إطلاقاً.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" y="1783080"/>
            <a:ext cx="726033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D"/>
            </a:solidFill>
            <a:prstDash val="solid"/>
          </a:ln>
          <a:effectLst>
            <a:outerShdw sx="100000" sy="100000" kx="0" ky="0" algn="bl" rotWithShape="0" blurRad="127000" dist="25400" dir="5400000">
              <a:srgbClr val="12384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56816"/>
            <a:ext cx="6729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أسباب عدم الاعتماد التي يسبّبها نقص الحد الأدنى للبيانات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64224" y="2340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40864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نقص في المستندات أو التقارير الطبية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64224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779776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تنطبق عليها معايير الطوارئ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32186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4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كفاية المبرر الطبي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6729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 الأدنى للبيانات (MDS) في لائحة المجلس ثمانية حقول، منها: الشكوى الرئيسة · الفحص السريري · خطة العلاج · التاريخ المرضي.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10728" y="4187952"/>
            <a:ext cx="3493008" cy="1691640"/>
          </a:xfrm>
          <a:prstGeom prst="roundRect">
            <a:avLst>
              <a:gd name="adj" fmla="val 3243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81944" y="4334256"/>
            <a:ext cx="384048" cy="384048"/>
          </a:xfrm>
          <a:prstGeom prst="ellipse">
            <a:avLst/>
          </a:prstGeom>
          <a:solidFill>
            <a:srgbClr val="1B6FA8"/>
          </a:solidFill>
          <a:ln w="12700">
            <a:solidFill>
              <a:srgbClr val="1B6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8194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11896" y="4370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جاهز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11896" y="4773168"/>
            <a:ext cx="30906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استمارة UCAF تُكتب بالحاسوب، فحقولها تُستخرج نصّاً بلا مسح ضوئي. وهي لقطة لما رُفع فعلاً، فلا يتسرّب إليها المستقبل.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4256" y="4187952"/>
            <a:ext cx="3493008" cy="1691640"/>
          </a:xfrm>
          <a:prstGeom prst="roundRect">
            <a:avLst>
              <a:gd name="adj" fmla="val 3243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5472" y="4334256"/>
            <a:ext cx="384048" cy="384048"/>
          </a:xfrm>
          <a:prstGeom prst="ellipse">
            <a:avLst/>
          </a:prstGeom>
          <a:solidFill>
            <a:srgbClr val="96590F"/>
          </a:solidFill>
          <a:ln w="12700">
            <a:solidFill>
              <a:srgbClr val="9659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35424" y="4370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يُضاف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35424" y="4773168"/>
            <a:ext cx="30906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رايات اكتمال لكل حقل ودرجة اكتمال إجمالية، بلا نصّ ولا معرّف شخصي. تُحسب عند الاستخراج ثم يُتلَف المصدر.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" y="4187952"/>
            <a:ext cx="3493008" cy="1691640"/>
          </a:xfrm>
          <a:prstGeom prst="roundRect">
            <a:avLst>
              <a:gd name="adj" fmla="val 3243"/>
            </a:avLst>
          </a:prstGeom>
          <a:solidFill>
            <a:srgbClr val="EFF4F9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4334256"/>
            <a:ext cx="384048" cy="384048"/>
          </a:xfrm>
          <a:prstGeom prst="ellipse">
            <a:avLst/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" y="4370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الذي يتغيّر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8952" y="4773168"/>
            <a:ext cx="30906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تحقّق في النظام الصحي تمنع خروج الطلب ناقصاً. تُضبط مرّة، ثم تعمل بلا وقت موظّف — وسديد يحدّد أي الحقول تستحقّ الفرض.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3459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4E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يُعرض هنا وعدٌ برقم. المقياس المقترح ثلاثي: AUC، ودقّة تشخيص السبب، ونسبة الخطر الواقعة في حقول قابلة للتعديل (نحو 30 بالمئة اليوم).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التشغيل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معالجة المرفوضات إلى منعها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043416" y="1572768"/>
            <a:ext cx="2560320" cy="2487168"/>
          </a:xfrm>
          <a:prstGeom prst="roundRect">
            <a:avLst>
              <a:gd name="adj" fmla="val 2206"/>
            </a:avLst>
          </a:prstGeom>
          <a:solidFill>
            <a:srgbClr val="1B4A66"/>
          </a:solidFill>
          <a:ln w="12700">
            <a:solidFill>
              <a:srgbClr val="2A62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18520" y="1773936"/>
            <a:ext cx="420624" cy="420624"/>
          </a:xfrm>
          <a:prstGeom prst="ellipse">
            <a:avLst/>
          </a:prstGeom>
          <a:solidFill>
            <a:srgbClr val="9FC8E0"/>
          </a:solidFill>
          <a:ln w="12700">
            <a:solidFill>
              <a:srgbClr val="9F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44584" y="1810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مع فريق الموافقات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44584" y="2322576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المرفوضات الواردة وترتيبها بالمبلغ. يُقاس زمن المعالجة ونسبة نجاح إعادة الإرسال.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44584" y="36027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FE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أسابيع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2560320" cy="2487168"/>
          </a:xfrm>
          <a:prstGeom prst="roundRect">
            <a:avLst>
              <a:gd name="adj" fmla="val 2206"/>
            </a:avLst>
          </a:prstGeom>
          <a:solidFill>
            <a:srgbClr val="1B4A66"/>
          </a:solidFill>
          <a:ln w="12700">
            <a:solidFill>
              <a:srgbClr val="2A62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3024" y="1773936"/>
            <a:ext cx="420624" cy="420624"/>
          </a:xfrm>
          <a:prstGeom prst="ellipse">
            <a:avLst/>
          </a:prstGeom>
          <a:solidFill>
            <a:srgbClr val="9FC8E0"/>
          </a:solidFill>
          <a:ln w="12700">
            <a:solidFill>
              <a:srgbClr val="9F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19088" y="1810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بلوحة Power BI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9088" y="2322576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الأنماط: أي العيادات والعقود والتشخيصات تُنتج الرفض بانتظام.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19088" y="36027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FE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أسابيع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92424" y="1572768"/>
            <a:ext cx="2560320" cy="2487168"/>
          </a:xfrm>
          <a:prstGeom prst="roundRect">
            <a:avLst>
              <a:gd name="adj" fmla="val 2206"/>
            </a:avLst>
          </a:prstGeom>
          <a:solidFill>
            <a:srgbClr val="1B4A66"/>
          </a:solidFill>
          <a:ln w="12700">
            <a:solidFill>
              <a:srgbClr val="2A6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67528" y="1773936"/>
            <a:ext cx="420624" cy="420624"/>
          </a:xfrm>
          <a:prstGeom prst="ellipse">
            <a:avLst/>
          </a:prstGeom>
          <a:solidFill>
            <a:srgbClr val="9FC8E0"/>
          </a:solidFill>
          <a:ln w="12700">
            <a:solidFill>
              <a:srgbClr val="9F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93592" y="1810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أثر MDS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93592" y="2322576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استخراج حقول الاكتمال من UCAF، وإعادة التدريب، وتحديد الحقول التي تستحقّ الفرض.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93592" y="36027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FE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أشهر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1572768"/>
            <a:ext cx="2560320" cy="2487168"/>
          </a:xfrm>
          <a:prstGeom prst="roundRect">
            <a:avLst>
              <a:gd name="adj" fmla="val 2206"/>
            </a:avLst>
          </a:prstGeom>
          <a:solidFill>
            <a:srgbClr val="1B4A66"/>
          </a:solidFill>
          <a:ln w="12700">
            <a:solidFill>
              <a:srgbClr val="2A62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1773936"/>
            <a:ext cx="420624" cy="420624"/>
          </a:xfrm>
          <a:prstGeom prst="ellipse">
            <a:avLst/>
          </a:prstGeom>
          <a:solidFill>
            <a:srgbClr val="9FC8E0"/>
          </a:solidFill>
          <a:ln w="12700">
            <a:solidFill>
              <a:srgbClr val="9FC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" y="18105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الفرض في النظام الصحي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096" y="2322576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تحقّق تمنع خروج الطلب ناقصاً — بالشراكة مع تقنية المعلومات.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" y="36027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FE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القياس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" y="4352544"/>
            <a:ext cx="1104595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5537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901184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2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سديد أداةً لفريق الموافقات في معالجة المرفوضات لمدة أربعة أسابيع، وتكليف فريق مشترك مع تقنية المعلومات بدراسة فرض اكتمال البيانات في النظام الصحي.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60899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B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سديد  ·  تجمع مكة المكرمة الصحي  ·  إدارة أداء تنمية الإيرادات  ·  إعداد: هاني السلمي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Makkah Health Cluster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سديد — عرض للإدارة التنفيذية</dc:title>
  <dc:subject>PptxGenJS Presentation</dc:subject>
  <dc:creator>Hani Alsulami</dc:creator>
  <cp:lastModifiedBy>Hani Alsulami</cp:lastModifiedBy>
  <cp:revision>1</cp:revision>
  <dcterms:created xsi:type="dcterms:W3CDTF">2026-08-20T15:26:18Z</dcterms:created>
  <dcterms:modified xsi:type="dcterms:W3CDTF">2026-08-20T15:26:18Z</dcterms:modified>
</cp:coreProperties>
</file>